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ASRRL — Adaptive Symbolic Reasoning and Reinforcement Learning for Dynamic Network Traffic Classification</a:t>
            </a:r>
          </a:p>
          <a:p/>
          <a:p>
            <a:r>
              <a:t>This presentation details the complete methodology of the ASRRL Intrusion Detection System (IDS) framework. ASRRL combines multiple ML and formal methods techniques into a 9-stage pipeline (Stages 0–8) for network traffic classification.</a:t>
            </a:r>
          </a:p>
          <a:p/>
          <a:p>
            <a:r>
              <a:t>KEY CONTRIBUTIONS:</a:t>
            </a:r>
          </a:p>
          <a:p>
            <a:r>
              <a:t>1. PCAP Binary Preprocessing (Stage 0): Raw binary PCAP packet captures are converted to flow-level features using CICFlowMeter/Argus, establishing the bridge between raw network data and the ML pipeline.</a:t>
            </a:r>
          </a:p>
          <a:p/>
          <a:p>
            <a:r>
              <a:t>2. Symbolic Reasoning via Z3 SMT Solver: Decision tree paths are converted into formal logic constraints using Microsoft Research's Z3 theorem prover, providing mathematically provable safety guarantees.</a:t>
            </a:r>
          </a:p>
          <a:p/>
          <a:p>
            <a:r>
              <a:t>3. Reinforcement Learning with Safety Shielding: A tabular Q-learning agent learns optimal classification policies, but every proposed action is verified against Z3 constraints before execution.</a:t>
            </a:r>
          </a:p>
          <a:p/>
          <a:p>
            <a:r>
              <a:t>4. Dynamic Adaptation: Adaptive buffer sizing (10-200 flows) and dynamic threshold adaptation (0.40-0.70) handle concept drift at runtime.</a:t>
            </a:r>
          </a:p>
          <a:p/>
          <a:p>
            <a:r>
              <a:t>5. Novel Pattern Detection: DBSCAN clustering discovers zero-day attack patterns and incorporates them as new Z3 constraints.</a:t>
            </a:r>
          </a:p>
          <a:p/>
          <a:p>
            <a:r>
              <a:t>6. Parallel Processing: Pipeline stages with independent data paths are parallelized for throughput — PCAP processing, Z3 extraction, and final classification are embarrassingly parallel.</a:t>
            </a:r>
          </a:p>
          <a:p/>
          <a:p>
            <a:r>
              <a:t>DATASETS: UNSW-NB15, CSE-CIC-IDS-2018, CIC-IDS2017.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ASRRL Architecture: 9-Stage Pipeline with Parallel Processing</a:t>
            </a:r>
          </a:p>
          <a:p/>
          <a:p>
            <a:r>
              <a:t>This slide presents the complete 9-stage pipeline (Stage 0 through Stage 8). The key addition from the previous version is Stage 0 (PCAP Binary Preprocessing), which addresses how raw binary network captures are converted into the flow-level tabular data that the ML pipeline consumes.</a:t>
            </a:r>
          </a:p>
          <a:p/>
          <a:p>
            <a:r>
              <a:t>STAGE 0 — PCAP PREPROCESSING:</a:t>
            </a:r>
          </a:p>
          <a:p>
            <a:r>
              <a:t>Real network traffic is captured as binary PCAP (Packet CAPture) files containing raw packet headers and payloads. Before any ML processing:</a:t>
            </a:r>
          </a:p>
          <a:p>
            <a:r>
              <a:t>1. Packets are reassembled into TCP streams</a:t>
            </a:r>
          </a:p>
          <a:p>
            <a:r>
              <a:t>2. Flows are aggregated by 5-tuple (src_ip, dst_ip, src_port, dst_port, protocol)</a:t>
            </a:r>
          </a:p>
          <a:p>
            <a:r>
              <a:t>3. Timeout-based flow termination applies (active ~120s, idle ~60s)</a:t>
            </a:r>
          </a:p>
          <a:p>
            <a:r>
              <a:t>4. CICFlowMeter (for CIC datasets) or Argus (for UNSW-NB15) computes 49–80+ statistical features per flow</a:t>
            </a:r>
          </a:p>
          <a:p>
            <a:r>
              <a:t>5. Output: CSV files with one row per flow</a:t>
            </a:r>
          </a:p>
          <a:p/>
          <a:p>
            <a:r>
              <a:t>PARALLEL PROCESSING POINTS:</a:t>
            </a:r>
          </a:p>
          <a:p>
            <a:r>
              <a:t>The pipeline is NOT fully sequential — several stages support parallel execution:</a:t>
            </a:r>
          </a:p>
          <a:p>
            <a:r>
              <a:t>- Stage 0: Each PCAP file processed independently → embarrassingly parallel</a:t>
            </a:r>
          </a:p>
          <a:p>
            <a:r>
              <a:t>- Stage 3: Each leaf path extracted and verified independently → parallel per leaf</a:t>
            </a:r>
          </a:p>
          <a:p>
            <a:r>
              <a:t>- Stage 8: Each flow classified independently → embarrassingly parallel per flow</a:t>
            </a:r>
          </a:p>
          <a:p>
            <a:r>
              <a:t>- Cross-dataset: All 3 datasets processed through independent pipeline instances</a:t>
            </a:r>
          </a:p>
          <a:p/>
          <a:p>
            <a:r>
              <a:t>SEQUENTIAL BOTTLENECKS:</a:t>
            </a:r>
          </a:p>
          <a:p>
            <a:r>
              <a:t>- Stage 2 (DT training): CART splits are computed greedily → inherently sequential</a:t>
            </a:r>
          </a:p>
          <a:p>
            <a:r>
              <a:t>- Stage 4 (Q-learning): Episodes update shared Q-table → sequential within episodes</a:t>
            </a:r>
          </a:p>
          <a:p>
            <a:r>
              <a:t>- Stage 5 (DBSCAN): Core algorithm uses sequential neighborhood queries</a:t>
            </a:r>
          </a:p>
          <a:p>
            <a:r>
              <a:t>- Stages 6-7 (Buffer/Threshold): Temporal dependency on previous window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Three Benchmark Datasets: Raw Features &amp; Standardized Extraction</a:t>
            </a:r>
          </a:p>
          <a:p/>
          <a:p>
            <a:r>
              <a:t>This slide now includes PCAP source information and flow extraction tools for each dataset.</a:t>
            </a:r>
          </a:p>
          <a:p/>
          <a:p>
            <a:r>
              <a:t>UNSW-NB15: PCAP captured by IXIA PerfectStorm tool at UNSW Canberra. Flows extracted by Argus and Bro-IDS network monitors. The raw PCAP binary data was processed into 49-column CSV format by the dataset creators.</a:t>
            </a:r>
          </a:p>
          <a:p/>
          <a:p>
            <a:r>
              <a:t>CSE-CIC-IDS-2018: PCAP captured over 10 days on AWS infrastructure simulating enterprise network. CICFlowMeter processed the binary PCAPs into 80+ flow-level features using 5-tuple aggregation with configurable timeouts.</a:t>
            </a:r>
          </a:p>
          <a:p/>
          <a:p>
            <a:r>
              <a:t>CIC-IDS2017: PCAP captured over 5 days at CIC lab network. Same CICFlowMeter tool processed the binary captures into the same 80+ feature format.</a:t>
            </a:r>
          </a:p>
          <a:p/>
          <a:p>
            <a:r>
              <a:t>KEY POINT FOR ADVISOR: All three benchmark datasets ship as pre-extracted CSVs. The PCAP → flow conversion was performed by the dataset creators using established tools (CICFlowMeter, Argus). Our Stage 0 documents this preprocessing step and shows it as part of the complete 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Stage 0: PCAP Binary Preprocessing &amp; Flow Aggregation</a:t>
            </a:r>
          </a:p>
          <a:p/>
          <a:p>
            <a:r>
              <a:t>PURPOSE: Bridge the gap between raw binary network captures (PCAP format) and the tabular flow-level data that the ML pipeline (Stages 1–8) consumes. This stage documents the complete data lineage from wire to CSV.</a:t>
            </a:r>
          </a:p>
          <a:p/>
          <a:p>
            <a:r>
              <a:t>WHAT IS PCAP:</a:t>
            </a:r>
          </a:p>
          <a:p>
            <a:r>
              <a:t>PCAP (Packet CAPture) is the standard binary format for storing captured network packets. Each PCAP file contains:</a:t>
            </a:r>
          </a:p>
          <a:p>
            <a:r>
              <a:t>- Global header: magic number, version, snap length, link-layer type</a:t>
            </a:r>
          </a:p>
          <a:p>
            <a:r>
              <a:t>- Per-packet records: timestamp (microsecond precision), captured length, original length, raw packet bytes</a:t>
            </a:r>
          </a:p>
          <a:p>
            <a:r>
              <a:t>- Packet bytes include: Ethernet header (14 bytes) → IP header (20-60 bytes) → TCP/UDP/ICMP header → payload</a:t>
            </a:r>
          </a:p>
          <a:p/>
          <a:p>
            <a:r>
              <a:t>FLOW AGGREGATION PROCESS:</a:t>
            </a:r>
          </a:p>
          <a:p>
            <a:r>
              <a:t>1. PACKET PARSING: Read binary PCAP, decode Ethernet/IP/transport headers to extract 5-tuple</a:t>
            </a:r>
          </a:p>
          <a:p>
            <a:r>
              <a:t>2. FLOW GROUPING: Group packets by (src_ip, dst_ip, src_port, dst_port, protocol) into bidirectional flows</a:t>
            </a:r>
          </a:p>
          <a:p>
            <a:r>
              <a:t>3. TIMEOUT TERMINATION: Flows are terminated when:</a:t>
            </a:r>
          </a:p>
          <a:p>
            <a:r>
              <a:t>   - Idle timeout (T_idle = 60s): no packets for 60 seconds</a:t>
            </a:r>
          </a:p>
          <a:p>
            <a:r>
              <a:t>   - Active timeout (T_active = 120s): flow duration exceeds 120 seconds</a:t>
            </a:r>
          </a:p>
          <a:p>
            <a:r>
              <a:t>   - FIN/RST flag: TCP connection termination</a:t>
            </a:r>
          </a:p>
          <a:p>
            <a:r>
              <a:t>4. FEATURE COMPUTATION: For each terminated flow, compute statistical features:</a:t>
            </a:r>
          </a:p>
          <a:p>
            <a:r>
              <a:t>   - Duration, total packets (fwd+bwd), total bytes (fwd+bwd)</a:t>
            </a:r>
          </a:p>
          <a:p>
            <a:r>
              <a:t>   - Packet rate, byte rate, packet size stats (mean, std, min, max)</a:t>
            </a:r>
          </a:p>
          <a:p>
            <a:r>
              <a:t>   - Inter-arrival time stats (mean, std, min, max) for fwd and bwd directions</a:t>
            </a:r>
          </a:p>
          <a:p>
            <a:r>
              <a:t>   - TCP flags (SYN, ACK, FIN, RST, PSH, URG counts)</a:t>
            </a:r>
          </a:p>
          <a:p>
            <a:r>
              <a:t>   - Payload statistics, header lengths, etc.</a:t>
            </a:r>
          </a:p>
          <a:p/>
          <a:p>
            <a:r>
              <a:t>TOOLS USED:</a:t>
            </a:r>
          </a:p>
          <a:p>
            <a:r>
              <a:t>- CICFlowMeter (v3/v4): Java-based tool from CIC that reads PCAP and outputs CICFlowMeter-format CSVs with 80+ features. Used for both CIC-IDS2017 and CSE-CIC-IDS-2018.</a:t>
            </a:r>
          </a:p>
          <a:p>
            <a:r>
              <a:t>- Argus: Open-source flow generator that produces NetFlow-like records. Used alongside Bro-IDS (now Zeek) for UNSW-NB15.</a:t>
            </a:r>
          </a:p>
          <a:p/>
          <a:p>
            <a:r>
              <a:t>PARALLELISM:</a:t>
            </a:r>
          </a:p>
          <a:p>
            <a:r>
              <a:t>PCAP processing is embarrassingly parallel:</a:t>
            </a:r>
          </a:p>
          <a:p>
            <a:r>
              <a:t>- Multiple PCAP files can be processed simultaneously (one per CPU core)</a:t>
            </a:r>
          </a:p>
          <a:p>
            <a:r>
              <a:t>- Large PCAP files can be split by time window and processed in parallel</a:t>
            </a:r>
          </a:p>
          <a:p>
            <a:r>
              <a:t>- This is the most computationally intensive preprocessing step (parsing millions of packets)</a:t>
            </a:r>
          </a:p>
          <a:p/>
          <a:p>
            <a:r>
              <a:t>KEY POINT: The three benchmark datasets ship as pre-extracted CSVs. The PCAP-to-CSV conversion was performed by the dataset creators. However, in a production deployment, Stage 0 would run in real-time using CICFlowMeter or similar tools on live traffic captures.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Stage 1: Feature Extraction &amp; StandardScaler Normalization</a:t>
            </a:r>
          </a:p>
          <a:p/>
          <a:p>
            <a:r>
              <a:t>PURPOSE: Transform the raw CSV output from Stage 0 (49–80+ columns) into a standardized 7-feature normalized matrix.</a:t>
            </a:r>
          </a:p>
          <a:p/>
          <a:p>
            <a:r>
              <a:t>This stage now explicitly receives input from Stage 0 (PCAP preprocessing), closing the gap between binary network data and the ML pipeline.</a:t>
            </a:r>
          </a:p>
          <a:p/>
          <a:p>
            <a:r>
              <a:t>ALGORITHM DETAILS:</a:t>
            </a:r>
          </a:p>
          <a:p>
            <a:r>
              <a:t>The StandardScaler performs Z-score normalization on each of the 4 continuous features independently:</a:t>
            </a:r>
          </a:p>
          <a:p>
            <a:r>
              <a:t>- Compute mean and standard deviation from training data</a:t>
            </a:r>
          </a:p>
          <a:p>
            <a:r>
              <a:t>- Transform: z = (x - mu) / sigma</a:t>
            </a:r>
          </a:p>
          <a:p/>
          <a:p>
            <a:r>
              <a:t>DATASET-SPECIFIC MAPPINGS:</a:t>
            </a:r>
          </a:p>
          <a:p>
            <a:r>
              <a:t>- UNSW-NB15 (49 cols → 7): dur*1000, rate, sbytes+dbytes, normalize(ct_srv_src), bin(dsport), bin(byte_rate), proto_map</a:t>
            </a:r>
          </a:p>
          <a:p>
            <a:r>
              <a:t>- CSE-CIC-2018 (80+ cols → 7): Flow Duration/1000, Flow Packets/s, Flow Bytes/s, quantile_norm(Fwd IAT Std), bin(Dst Port), bin(bytes*dur), proto_map</a:t>
            </a:r>
          </a:p>
          <a:p>
            <a:r>
              <a:t>- CIC-IDS2017 (80+ cols → 7): Same as CSE-CIC-2018 (both use CICFlowMeter output format)</a:t>
            </a:r>
          </a:p>
          <a:p/>
          <a:p>
            <a:r>
              <a:t>OUTPUT: X_norm (n×7) and y (n binary labels) fed to Stage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Stage 2: Decision Tree Symbolic Model (CART)</a:t>
            </a:r>
          </a:p>
          <a:p/>
          <a:p>
            <a:r>
              <a:t>PURPOSE: Train an interpretable decision tree whose decision paths can be extracted as formal logic constraints.</a:t>
            </a:r>
          </a:p>
          <a:p/>
          <a:p>
            <a:r>
              <a:t>WHY DECISION TREE: It is a "white-box" model — every prediction is a conjunction of feature threshold comparisons along a root-to-leaf path. This enables:</a:t>
            </a:r>
          </a:p>
          <a:p>
            <a:r>
              <a:t>1. Direct translation into Z3 logical implications (Stage 3)</a:t>
            </a:r>
          </a:p>
          <a:p>
            <a:r>
              <a:t>2. Discrete state IDs for Q-learning (Stage 4)</a:t>
            </a:r>
          </a:p>
          <a:p>
            <a:r>
              <a:t>3. Tractable verification (max 64 leaves with depth=6)</a:t>
            </a:r>
          </a:p>
          <a:p/>
          <a:p>
            <a:r>
              <a:t>NOTE ON PARALLELISM: CART training is inherently sequential — each split depends on the data partition from the previous split. This is one of the sequential bottlenecks in the pipeline. However, the tree is small (depth=6) so training completes in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Stage 3: Z3 SMT Constraint Extraction from Decision Tree</a:t>
            </a:r>
          </a:p>
          <a:p/>
          <a:p>
            <a:r>
              <a:t>PURPOSE: Convert the decision tree into formal logic constraints using Z3.</a:t>
            </a:r>
          </a:p>
          <a:p/>
          <a:p>
            <a:r>
              <a:t>PARALLELISM: Each leaf path extraction is independent:</a:t>
            </a:r>
          </a:p>
          <a:p>
            <a:r>
              <a:t>- L leaf paths can be extracted concurrently (one per thread/core)</a:t>
            </a:r>
          </a:p>
          <a:p>
            <a:r>
              <a:t>- Each path produces a candidate constraint φ_l</a:t>
            </a:r>
          </a:p>
          <a:p>
            <a:r>
              <a:t>- The satisfiability merge step is sequential (constraints must be checked for mutual consistency)</a:t>
            </a:r>
          </a:p>
          <a:p>
            <a:r>
              <a:t>- With L ≈ 60 leaves, parallelism reduces extraction time by ~Lx on multi-core systems</a:t>
            </a:r>
          </a:p>
          <a:p/>
          <a:p>
            <a:r>
              <a:t>The verify() function checks: given feature values and proposed action, is the constraint set satisfiable? sat = safe, unsat = unsafe.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Stage 4: Q-Learning RL with Z3 Safety Shielding</a:t>
            </a:r>
          </a:p>
          <a:p/>
          <a:p>
            <a:r>
              <a:t>PURPOSE: Learn an adaptive policy that improves on the static DT while maintaining safety guarantees.</a:t>
            </a:r>
          </a:p>
          <a:p/>
          <a:p>
            <a:r>
              <a:t>PARALLELISM NOTE: Q-learning training is partially sequential:</a:t>
            </a:r>
          </a:p>
          <a:p>
            <a:r>
              <a:t>- Within an episode, each flow's Q-update depends on the current Q-table → sequential</a:t>
            </a:r>
          </a:p>
          <a:p>
            <a:r>
              <a:t>- However, separate Q-tables are trained for each dataset independently → cross-dataset parallelism</a:t>
            </a:r>
          </a:p>
          <a:p>
            <a:r>
              <a:t>- The Z3 verify() calls per flow are independent and could be batched</a:t>
            </a:r>
          </a:p>
          <a:p/>
          <a:p>
            <a:r>
              <a:t>REWARD: TP:+2, FN:-3, TN:+1, FP:-1, shield_bonus:+0.5</a:t>
            </a:r>
          </a:p>
          <a:p>
            <a:r>
              <a:t>The asymmetric penalty (-3 FN vs -1 FP) reflects IDS priority: missing attacks is worse than false alarms.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Stage 5: DBSCAN Novel Attack Pattern Detection</a:t>
            </a:r>
          </a:p>
          <a:p/>
          <a:p>
            <a:r>
              <a:t>DBSCAN is inherently sequential (neighborhood queries depend on prior classifications of core/border/noise points). This is a sequential bottleneck, but runs on a small subset of data (only misclassified flows).</a:t>
            </a:r>
          </a:p>
          <a:p/>
          <a:p>
            <a:r>
              <a:t>The feedback loop C' = C ∪ C_novel means the constraint set grows over time, enabling detection of zero-day attacks.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Stage 6: Adaptive Buffer Management</a:t>
            </a:r>
          </a:p>
          <a:p/>
          <a:p>
            <a:r>
              <a:t>Sequential stage — buffer state depends on previous window. Cannot be parallelized within a single traffic stream, but different streams (e.g., per-subnet or per-sensor) could maintain independent buffers in parallel.</a:t>
            </a:r>
          </a:p>
          <a:p/>
          <a:p>
            <a:r>
              <a:t>Grows +10 during volatility, shrinks -5 during stability. Bounds: [10, 200]. Asymmetric rates create conservative bias.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Stage 7: Dynamic Threshold Adaptation</a:t>
            </a:r>
          </a:p>
          <a:p/>
          <a:p>
            <a:r>
              <a:t>Sequential stage — EMA depends on previous state. Like Stage 6, this cannot be parallelized within a single stream but operates independently across datasets.</a:t>
            </a:r>
          </a:p>
          <a:p/>
          <a:p>
            <a:r>
              <a:t>Observed convergence: UNSW-NB15 → τ≈0.625, CSE-CIC-2018 → τ≈0.625, CIC-IDS2017 → τ≈0.685.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Stage 8: Final Classification Decision</a:t>
            </a:r>
          </a:p>
          <a:p/>
          <a:p>
            <a:r>
              <a:t>PARALLELISM: This is the most parallelizable stage. At inference time:</a:t>
            </a:r>
          </a:p>
          <a:p>
            <a:r>
              <a:t>- The Q-table is frozen (read-only) → no write conflicts</a:t>
            </a:r>
          </a:p>
          <a:p>
            <a:r>
              <a:t>- The constraint set C is frozen (read-only) → each Z3 solver instance is independent</a:t>
            </a:r>
          </a:p>
          <a:p>
            <a:r>
              <a:t>- Each flow x_i is classified independently → embarrassingly parallel</a:t>
            </a:r>
          </a:p>
          <a:p>
            <a:r>
              <a:t>- Can distribute across N cores for ~Nx throughput improvement</a:t>
            </a:r>
          </a:p>
          <a:p/>
          <a:p>
            <a:r>
              <a:t>This is where real-time IDS throughput is critical — production systems need to classify millions of flows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Parallel Processing Architecture</a:t>
            </a:r>
          </a:p>
          <a:p/>
          <a:p>
            <a:r>
              <a:t>This slide addresses the advisor's question about where parallel processing is used in the pipeline.</a:t>
            </a:r>
          </a:p>
          <a:p/>
          <a:p>
            <a:r>
              <a:t>SUMMARY OF PARALLELISM:</a:t>
            </a:r>
          </a:p>
          <a:p/>
          <a:p>
            <a:r>
              <a:t>EMBARRASSINGLY PARALLEL STAGES:</a:t>
            </a:r>
          </a:p>
          <a:p>
            <a:r>
              <a:t>1. Stage 0 (PCAP Preprocessing): Each PCAP file is processed by an independent CICFlowMeter/Argus instance. No shared state between files. This is I/O-bound and scales linearly with CPU cores.</a:t>
            </a:r>
          </a:p>
          <a:p/>
          <a:p>
            <a:r>
              <a:t>2. Stage 3 (Z3 Constraint Extraction): Each of the L leaf paths can be extracted independently. The path traversal and constraint construction are pure functions of the tree structure. Only the final merge step (checking consistency of the full constraint set) requires sequential processing.</a:t>
            </a:r>
          </a:p>
          <a:p/>
          <a:p>
            <a:r>
              <a:t>3. Stage 8 (Final Classification at Inference): This is the critical real-time stage. At inference time, the Q-table and constraint set are both read-only (frozen after training). Each flow can be classified by an independent worker thread/process. With N CPU cores, throughput scales ~Nx. The tiered approach further helps: ~70% of flows take the fast path (direct DT classification, no Z3 call), only ~30% require Z3 solver invocation.</a:t>
            </a:r>
          </a:p>
          <a:p/>
          <a:p>
            <a:r>
              <a:t>4. Cross-Dataset Parallelism: Since each dataset has its own independent pipeline (separate DT, Q-table, constraint set, buffer, threshold), all three datasets can be processed simultaneously.</a:t>
            </a:r>
          </a:p>
          <a:p/>
          <a:p>
            <a:r>
              <a:t>SEQUENTIAL BOTTLENECKS (and why they're acceptable):</a:t>
            </a:r>
          </a:p>
          <a:p>
            <a:r>
              <a:t>1. Stage 2 (DT Training): CART is inherently sequential, but with depth=6 and 50K samples, it completes in &lt;1 second.</a:t>
            </a:r>
          </a:p>
          <a:p>
            <a:r>
              <a:t>2. Stage 4 (Q-Learning): Within an episode, Q-updates are sequential. But training converges quickly and runs offline.</a:t>
            </a:r>
          </a:p>
          <a:p>
            <a:r>
              <a:t>3. Stage 5 (DBSCAN): Sequential neighborhood queries, but operates on the small subset of misclassified flows only.</a:t>
            </a:r>
          </a:p>
          <a:p>
            <a:r>
              <a:t>4. Stages 6-7 (Buffer/Threshold): Temporal dependencies prevent within-stream parallelism. However, different network segments (per-subnet, per-sensor, per-VLAN) can maintain independent buffer/threshold states in parallel.</a:t>
            </a:r>
          </a:p>
          <a:p/>
          <a:p>
            <a:r>
              <a:t>TRAINING vs INFERENCE:</a:t>
            </a:r>
          </a:p>
          <a:p>
            <a:r>
              <a:t>- Training phase (Stages 0-7): Mostly sequential, runs offline. Total time: seconds to minutes depending on dataset size.</a:t>
            </a:r>
          </a:p>
          <a:p>
            <a:r>
              <a:t>- Inference phase (Stage 8): Fully parallel, runs in real-time. This is where parallelism matters most for production IDS deployment.</a:t>
            </a:r>
          </a:p>
          <a:p/>
          <a:p>
            <a:r>
              <a:t>IMPLEMENTATION OPTIONS:</a:t>
            </a:r>
          </a:p>
          <a:p>
            <a:r>
              <a:t>- Python multiprocessing.Pool for Stage 0 (PCAP files)</a:t>
            </a:r>
          </a:p>
          <a:p>
            <a:r>
              <a:t>- concurrent.futures.ThreadPoolExecutor for Stage 3 (leaf paths, GIL-free Z3 calls)</a:t>
            </a:r>
          </a:p>
          <a:p>
            <a:r>
              <a:t>- Ray or Dask for distributed Stage 8 inference across multiple machines</a:t>
            </a:r>
          </a:p>
          <a:p>
            <a:r>
              <a:t>- Independent process per dataset for cross-dataset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Experimental Results</a:t>
            </a:r>
          </a:p>
          <a:p/>
          <a:p>
            <a:r>
              <a:t>ASRRL Dynamic achieves F1 scores of 0.98+ across all three datasets, competitive with static baselines (RF: 0.99+, XGBoost: 0.99+).</a:t>
            </a:r>
          </a:p>
          <a:p/>
          <a:p>
            <a:r>
              <a:t>Why slightly lower F1 is acceptable:</a:t>
            </a:r>
          </a:p>
          <a:p>
            <a:r>
              <a:t>1. FORMAL SAFETY GUARANTEES: Every classification is Z3-verified</a:t>
            </a:r>
          </a:p>
          <a:p>
            <a:r>
              <a:t>2. DYNAMIC ADAPTATION: Buffer and threshold adapt at runtime</a:t>
            </a:r>
          </a:p>
          <a:p>
            <a:r>
              <a:t>3. ZERO-DAY DETECTION: DBSCAN discovers novel attack patterns</a:t>
            </a:r>
          </a:p>
          <a:p>
            <a:r>
              <a:t>4. PARALLEL INFERENCE: Stage 8 scales linearly with CPU cores</a:t>
            </a:r>
          </a:p>
          <a:p>
            <a:r>
              <a:t>5. COMPLETE EXPLAINABILITY: Full audit trail per decision</a:t>
            </a:r>
          </a:p>
          <a:p/>
          <a:p>
            <a:r>
              <a:t>Statistical significance: Wilcoxon tests show significant differences from most baselines at p&lt;0.05.</a:t>
            </a:r>
          </a:p>
          <a:p>
            <a:r>
              <a:t>Constraint fidelity: 100% fidelity, coverage, and opinion rate across all datasets.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C71"/>
        </a:solidFill>
        <a:effectLst/>
      </p:bgPr>
    </p:bg>
    <p:spTree>
      <p:nvGrpSpPr>
        <p:cNvPr id="1" name=""/>
        <p:cNvGrpSpPr/>
        <p:nvPr/>
      </p:nvGrpSpPr>
      <p:grpSpPr/>
      <p:sp>
        <p:nvSpPr>
          <p:cNvPr id="2" name="TextBox 1"/>
          <p:cNvSpPr txBox="1"/>
          <p:nvPr/>
        </p:nvSpPr>
        <p:spPr>
          <a:xfrm>
            <a:off x="914400" y="1097280"/>
            <a:ext cx="10332720" cy="1371600"/>
          </a:xfrm>
          <a:prstGeom prst="rect">
            <a:avLst/>
          </a:prstGeom>
          <a:noFill/>
        </p:spPr>
        <p:txBody>
          <a:bodyPr wrap="square">
            <a:spAutoFit/>
          </a:bodyPr>
          <a:lstStyle/>
          <a:p>
            <a:pPr algn="ctr">
              <a:defRPr sz="3600" b="1">
                <a:solidFill>
                  <a:srgbClr val="FFFFFF"/>
                </a:solidFill>
                <a:latin typeface="Calibri"/>
              </a:defRPr>
            </a:pPr>
            <a:r>
              <a:t>ASRRL: Adaptive Symbolic Reasoning and</a:t>
            </a:r>
            <a:br/>
            <a:r>
              <a:t>Reinforcement Learning for Dynamic</a:t>
            </a:r>
            <a:br/>
            <a:r>
              <a:t>Network Traffic Classification</a:t>
            </a:r>
          </a:p>
        </p:txBody>
      </p:sp>
      <p:sp>
        <p:nvSpPr>
          <p:cNvPr id="3" name="TextBox 2"/>
          <p:cNvSpPr txBox="1"/>
          <p:nvPr/>
        </p:nvSpPr>
        <p:spPr>
          <a:xfrm>
            <a:off x="914400" y="3474720"/>
            <a:ext cx="10332720" cy="731520"/>
          </a:xfrm>
          <a:prstGeom prst="rect">
            <a:avLst/>
          </a:prstGeom>
          <a:noFill/>
        </p:spPr>
        <p:txBody>
          <a:bodyPr wrap="square">
            <a:spAutoFit/>
          </a:bodyPr>
          <a:lstStyle/>
          <a:p>
            <a:pPr algn="ctr">
              <a:defRPr sz="1800" b="0">
                <a:solidFill>
                  <a:srgbClr val="BDC3C7"/>
                </a:solidFill>
                <a:latin typeface="Calibri"/>
              </a:defRPr>
            </a:pPr>
            <a:r>
              <a:t>A Verifiable IDS Framework with Z3 Formal Verification,</a:t>
            </a:r>
            <a:br/>
            <a:r>
              <a:t>Q-Learning Safety Shielding, and DBSCAN Novel Pattern Detection</a:t>
            </a:r>
          </a:p>
        </p:txBody>
      </p:sp>
      <p:sp>
        <p:nvSpPr>
          <p:cNvPr id="4" name="TextBox 3"/>
          <p:cNvSpPr txBox="1"/>
          <p:nvPr/>
        </p:nvSpPr>
        <p:spPr>
          <a:xfrm>
            <a:off x="914400" y="5029200"/>
            <a:ext cx="10332720" cy="457200"/>
          </a:xfrm>
          <a:prstGeom prst="rect">
            <a:avLst/>
          </a:prstGeom>
          <a:noFill/>
        </p:spPr>
        <p:txBody>
          <a:bodyPr wrap="square">
            <a:spAutoFit/>
          </a:bodyPr>
          <a:lstStyle/>
          <a:p>
            <a:pPr algn="ctr">
              <a:defRPr sz="1600" b="0">
                <a:solidFill>
                  <a:srgbClr val="95A5A6"/>
                </a:solidFill>
                <a:latin typeface="Calibri"/>
              </a:defRPr>
            </a:pPr>
            <a:r>
              <a:t>3 Benchmark Datasets  |  9-Stage Pipeline (Stage 0–8)  |  Parallel Processing  |  IEEE Format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137160"/>
            <a:ext cx="10972800" cy="548640"/>
          </a:xfrm>
          <a:prstGeom prst="rect">
            <a:avLst/>
          </a:prstGeom>
          <a:noFill/>
        </p:spPr>
        <p:txBody>
          <a:bodyPr wrap="square">
            <a:spAutoFit/>
          </a:bodyPr>
          <a:lstStyle/>
          <a:p>
            <a:pPr algn="ctr">
              <a:defRPr sz="2800" b="1">
                <a:solidFill>
                  <a:srgbClr val="003C71"/>
                </a:solidFill>
                <a:latin typeface="Calibri"/>
              </a:defRPr>
            </a:pPr>
            <a:r>
              <a:t>ASRRL Architecture — 9-Stage Pipeline with Parallel Processing</a:t>
            </a:r>
          </a:p>
        </p:txBody>
      </p:sp>
      <p:sp>
        <p:nvSpPr>
          <p:cNvPr id="3" name="Rounded Rectangle 2"/>
          <p:cNvSpPr/>
          <p:nvPr/>
        </p:nvSpPr>
        <p:spPr>
          <a:xfrm>
            <a:off x="228600" y="914400"/>
            <a:ext cx="1691640" cy="777240"/>
          </a:xfrm>
          <a:prstGeom prst="roundRect">
            <a:avLst/>
          </a:prstGeom>
          <a:solidFill>
            <a:srgbClr val="7B4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0. PCAP Binary</a:t>
            </a:r>
            <a:br/>
            <a:r>
              <a:t>Preprocessing</a:t>
            </a:r>
          </a:p>
        </p:txBody>
      </p:sp>
      <p:sp>
        <p:nvSpPr>
          <p:cNvPr id="4" name="Right Arrow 3"/>
          <p:cNvSpPr/>
          <p:nvPr/>
        </p:nvSpPr>
        <p:spPr>
          <a:xfrm>
            <a:off x="1929384"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121408" y="914400"/>
            <a:ext cx="1691640" cy="77724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1. Feature Extract</a:t>
            </a:r>
            <a:br/>
            <a:r>
              <a:t>&amp; Normalization</a:t>
            </a:r>
          </a:p>
        </p:txBody>
      </p:sp>
      <p:sp>
        <p:nvSpPr>
          <p:cNvPr id="6" name="Right Arrow 5"/>
          <p:cNvSpPr/>
          <p:nvPr/>
        </p:nvSpPr>
        <p:spPr>
          <a:xfrm>
            <a:off x="3822192"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14216" y="914400"/>
            <a:ext cx="1691640" cy="7772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2. Decision Tree</a:t>
            </a:r>
            <a:br/>
            <a:r>
              <a:t>Symbolic Model</a:t>
            </a:r>
          </a:p>
        </p:txBody>
      </p:sp>
      <p:sp>
        <p:nvSpPr>
          <p:cNvPr id="8" name="Right Arrow 7"/>
          <p:cNvSpPr/>
          <p:nvPr/>
        </p:nvSpPr>
        <p:spPr>
          <a:xfrm>
            <a:off x="5715000"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07024" y="914400"/>
            <a:ext cx="1691640" cy="7772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3. Z3 Constraint</a:t>
            </a:r>
            <a:br/>
            <a:r>
              <a:t>Extraction</a:t>
            </a:r>
          </a:p>
        </p:txBody>
      </p:sp>
      <p:sp>
        <p:nvSpPr>
          <p:cNvPr id="10" name="Right Arrow 9"/>
          <p:cNvSpPr/>
          <p:nvPr/>
        </p:nvSpPr>
        <p:spPr>
          <a:xfrm>
            <a:off x="7607808" y="114300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99832" y="914400"/>
            <a:ext cx="1691640" cy="7772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4. Q-Learning RL</a:t>
            </a:r>
            <a:br/>
            <a:r>
              <a:t>Safety Shielding</a:t>
            </a:r>
          </a:p>
        </p:txBody>
      </p:sp>
      <p:sp>
        <p:nvSpPr>
          <p:cNvPr id="12" name="Rounded Rectangle 11"/>
          <p:cNvSpPr/>
          <p:nvPr/>
        </p:nvSpPr>
        <p:spPr>
          <a:xfrm>
            <a:off x="2121408" y="1920240"/>
            <a:ext cx="1691640" cy="7772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5. DBSCAN Novel</a:t>
            </a:r>
            <a:br/>
            <a:r>
              <a:t>Pattern Detection</a:t>
            </a:r>
          </a:p>
        </p:txBody>
      </p:sp>
      <p:sp>
        <p:nvSpPr>
          <p:cNvPr id="13" name="Right Arrow 12"/>
          <p:cNvSpPr/>
          <p:nvPr/>
        </p:nvSpPr>
        <p:spPr>
          <a:xfrm>
            <a:off x="3822192"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14216" y="1920240"/>
            <a:ext cx="1691640" cy="7772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6. Adaptive Buffer</a:t>
            </a:r>
            <a:br/>
            <a:r>
              <a:t>Management</a:t>
            </a:r>
          </a:p>
        </p:txBody>
      </p:sp>
      <p:sp>
        <p:nvSpPr>
          <p:cNvPr id="15" name="Right Arrow 14"/>
          <p:cNvSpPr/>
          <p:nvPr/>
        </p:nvSpPr>
        <p:spPr>
          <a:xfrm>
            <a:off x="5715000"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07024" y="1920240"/>
            <a:ext cx="1691640" cy="77724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7. Dynamic Threshold</a:t>
            </a:r>
            <a:br/>
            <a:r>
              <a:t>Adaptation</a:t>
            </a:r>
          </a:p>
        </p:txBody>
      </p:sp>
      <p:sp>
        <p:nvSpPr>
          <p:cNvPr id="17" name="Right Arrow 16"/>
          <p:cNvSpPr/>
          <p:nvPr/>
        </p:nvSpPr>
        <p:spPr>
          <a:xfrm>
            <a:off x="7607808" y="2148840"/>
            <a:ext cx="173736" cy="320040"/>
          </a:xfrm>
          <a:prstGeom prst="right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99832" y="1920240"/>
            <a:ext cx="1691640" cy="777240"/>
          </a:xfrm>
          <a:prstGeom prst="round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Calibri"/>
              </a:defRPr>
            </a:pPr>
            <a:r>
              <a:t>8. Final Classification</a:t>
            </a:r>
            <a:br/>
            <a:r>
              <a:t>Decision</a:t>
            </a:r>
          </a:p>
        </p:txBody>
      </p:sp>
      <p:sp>
        <p:nvSpPr>
          <p:cNvPr id="19" name="Down Arrow 18"/>
          <p:cNvSpPr/>
          <p:nvPr/>
        </p:nvSpPr>
        <p:spPr>
          <a:xfrm>
            <a:off x="2875788" y="1709928"/>
            <a:ext cx="182880" cy="201168"/>
          </a:xfrm>
          <a:prstGeom prst="downArrow">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80" y="2880360"/>
            <a:ext cx="11704320" cy="320040"/>
          </a:xfrm>
          <a:prstGeom prst="rect">
            <a:avLst/>
          </a:prstGeom>
          <a:noFill/>
        </p:spPr>
        <p:txBody>
          <a:bodyPr wrap="square">
            <a:spAutoFit/>
          </a:bodyPr>
          <a:lstStyle/>
          <a:p>
            <a:pPr algn="ctr">
              <a:defRPr sz="1200" b="1">
                <a:solidFill>
                  <a:srgbClr val="F39C12"/>
                </a:solidFill>
                <a:latin typeface="Calibri"/>
              </a:defRPr>
            </a:pPr>
            <a:r>
              <a:t>⚡ Parallel Processing Stages:  Stage 0 (per-PCAP)  |  Stage 3 (per-leaf path)  |  Stage 8 (per-flow)  |  Cross-dataset (all 3 datasets independently)</a:t>
            </a:r>
          </a:p>
        </p:txBody>
      </p:sp>
      <p:sp>
        <p:nvSpPr>
          <p:cNvPr id="21" name="TextBox 20"/>
          <p:cNvSpPr txBox="1"/>
          <p:nvPr/>
        </p:nvSpPr>
        <p:spPr>
          <a:xfrm>
            <a:off x="274320" y="3291840"/>
            <a:ext cx="11430000" cy="365760"/>
          </a:xfrm>
          <a:prstGeom prst="rect">
            <a:avLst/>
          </a:prstGeom>
          <a:noFill/>
        </p:spPr>
        <p:txBody>
          <a:bodyPr wrap="square">
            <a:spAutoFit/>
          </a:bodyPr>
          <a:lstStyle/>
          <a:p>
            <a:pPr algn="ctr">
              <a:defRPr sz="1200" b="1">
                <a:solidFill>
                  <a:srgbClr val="003C71"/>
                </a:solidFill>
                <a:latin typeface="Calibri"/>
              </a:defRPr>
            </a:pPr>
            <a:r>
              <a:t>Three Primary Datasets: UNSW-NB15 (2.5M flows, 9 attacks)  |  CSE-CIC-IDS-2018 (16M flows, 7 attacks)  |  CIC-IDS2017 (3.1M flows, 14 attacks)</a:t>
            </a:r>
          </a:p>
        </p:txBody>
      </p:sp>
      <p:sp>
        <p:nvSpPr>
          <p:cNvPr id="22" name="TextBox 21"/>
          <p:cNvSpPr txBox="1"/>
          <p:nvPr/>
        </p:nvSpPr>
        <p:spPr>
          <a:xfrm>
            <a:off x="274320" y="3749039"/>
            <a:ext cx="11430000" cy="320040"/>
          </a:xfrm>
          <a:prstGeom prst="rect">
            <a:avLst/>
          </a:prstGeom>
          <a:noFill/>
        </p:spPr>
        <p:txBody>
          <a:bodyPr wrap="square">
            <a:spAutoFit/>
          </a:bodyPr>
          <a:lstStyle/>
          <a:p>
            <a:pPr algn="l">
              <a:defRPr sz="1400" b="1">
                <a:solidFill>
                  <a:srgbClr val="003C71"/>
                </a:solidFill>
                <a:latin typeface="Calibri"/>
              </a:defRPr>
            </a:pPr>
            <a:r>
              <a:t>Data Transformation Summary (per flow x_i):</a:t>
            </a:r>
          </a:p>
        </p:txBody>
      </p:sp>
      <p:sp>
        <p:nvSpPr>
          <p:cNvPr id="23" name="TextBox 22"/>
          <p:cNvSpPr txBox="1"/>
          <p:nvPr/>
        </p:nvSpPr>
        <p:spPr>
          <a:xfrm>
            <a:off x="365760" y="4114800"/>
            <a:ext cx="11430000" cy="2743200"/>
          </a:xfrm>
          <a:prstGeom prst="rect">
            <a:avLst/>
          </a:prstGeom>
          <a:noFill/>
        </p:spPr>
        <p:txBody>
          <a:bodyPr wrap="square">
            <a:spAutoFit/>
          </a:bodyPr>
          <a:lstStyle/>
          <a:p>
            <a:pPr>
              <a:spcAft>
                <a:spcPts val="200"/>
              </a:spcAft>
              <a:defRPr sz="900" b="0">
                <a:solidFill>
                  <a:srgbClr val="000000"/>
                </a:solidFill>
                <a:latin typeface="Consolas"/>
              </a:defRPr>
            </a:pPr>
            <a:r>
              <a:t>Stage 0:  Binary PCAP packets  →  CICFlowMeter/Argus  →  5-tuple flow aggregation  →  CSV (49–80+ columns per flow)</a:t>
            </a:r>
          </a:p>
          <a:p>
            <a:pPr>
              <a:spcAft>
                <a:spcPts val="200"/>
              </a:spcAft>
              <a:defRPr sz="900" b="0">
                <a:solidFill>
                  <a:srgbClr val="000000"/>
                </a:solidFill>
                <a:latin typeface="Consolas"/>
              </a:defRPr>
            </a:pPr>
            <a:r>
              <a:t>Stage 1:  Raw columns (dur, rate, sbytes, ...)  →  x_i = [flow_duration, pkt_rate, byte_rate, entropy, port_cat, size_cat, protocol] ∈ R^7</a:t>
            </a:r>
          </a:p>
          <a:p>
            <a:pPr>
              <a:spcAft>
                <a:spcPts val="200"/>
              </a:spcAft>
              <a:defRPr sz="900" b="0">
                <a:solidFill>
                  <a:srgbClr val="000000"/>
                </a:solidFill>
                <a:latin typeface="Consolas"/>
              </a:defRPr>
            </a:pPr>
            <a:r>
              <a:t>Stage 2:  X_norm ∈ R^(n×7) → DecisionTree(max_depth=6) →  leaf_id(x_i), P(attack|x_i), ŷ_DT(x_i) ∈ {0,1}</a:t>
            </a:r>
          </a:p>
          <a:p>
            <a:pPr>
              <a:spcAft>
                <a:spcPts val="200"/>
              </a:spcAft>
              <a:defRPr sz="900" b="0">
                <a:solidFill>
                  <a:srgbClr val="000000"/>
                </a:solidFill>
                <a:latin typeface="Consolas"/>
              </a:defRPr>
            </a:pPr>
            <a:r>
              <a:t>Stage 3:  DT paths (root → leaf) → Z3 Implies(∧ (f_j op θ_j), action=class)  →  constraint set C = {φ_1,...,φ_L}  [⚡ parallel per leaf]</a:t>
            </a:r>
          </a:p>
          <a:p>
            <a:pPr>
              <a:spcAft>
                <a:spcPts val="200"/>
              </a:spcAft>
              <a:defRPr sz="900" b="0">
                <a:solidFill>
                  <a:srgbClr val="000000"/>
                </a:solidFill>
                <a:latin typeface="Consolas"/>
              </a:defRPr>
            </a:pPr>
            <a:r>
              <a:t>Stage 4:  state s_i = leaf_id(x_i) → Q(s,a) → a_i* = argmax Q(s_i,a)  subject to Z3 verify(x_i, a_i*) = sat</a:t>
            </a:r>
          </a:p>
          <a:p>
            <a:pPr>
              <a:spcAft>
                <a:spcPts val="200"/>
              </a:spcAft>
              <a:defRPr sz="900" b="0">
                <a:solidFill>
                  <a:srgbClr val="000000"/>
                </a:solidFill>
                <a:latin typeface="Consolas"/>
              </a:defRPr>
            </a:pPr>
            <a:r>
              <a:t>Stage 5:  misclassified {x_i : â_i ≠ a_i*} → DBSCAN(ε=1.5, minPts=5) → novel centroids → C' = C ∪ C_novel</a:t>
            </a:r>
          </a:p>
          <a:p>
            <a:pPr>
              <a:spcAft>
                <a:spcPts val="200"/>
              </a:spcAft>
              <a:defRPr sz="900" b="0">
                <a:solidFill>
                  <a:srgbClr val="000000"/>
                </a:solidFill>
                <a:latin typeface="Consolas"/>
              </a:defRPr>
            </a:pPr>
            <a:r>
              <a:t>Stage 6:  σ_entropy, σ²_bytes of window W_t → |B_{t+1}| = clip(|B_t| ± Δ, 10, 200)</a:t>
            </a:r>
          </a:p>
          <a:p>
            <a:pPr>
              <a:spcAft>
                <a:spcPts val="200"/>
              </a:spcAft>
              <a:defRPr sz="900" b="0">
                <a:solidFill>
                  <a:srgbClr val="000000"/>
                </a:solidFill>
                <a:latin typeface="Consolas"/>
              </a:defRPr>
            </a:pPr>
            <a:r>
              <a:t>Stage 7:  EMA(FPR_t, FNR_t) → τ_{t+1} = clip(τ_t ± 0.005, 0.40, 0.70)</a:t>
            </a:r>
          </a:p>
          <a:p>
            <a:pPr>
              <a:spcAft>
                <a:spcPts val="200"/>
              </a:spcAft>
              <a:defRPr sz="900" b="0">
                <a:solidFill>
                  <a:srgbClr val="000000"/>
                </a:solidFill>
                <a:latin typeface="Consolas"/>
              </a:defRPr>
            </a:pPr>
            <a:r>
              <a:t>Stage 8:  p_i ≥ τ → ATTACK;  p_i ≤ 1-τ → BENIGN;  else → RL+Z3 shield → ŷ_i ∈ {0,1}  [⚡ parallel per flow]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Three Benchmark Datasets — Raw Features &amp; Standardized Extraction</a:t>
            </a:r>
          </a:p>
        </p:txBody>
      </p:sp>
      <p:sp>
        <p:nvSpPr>
          <p:cNvPr id="3" name="Rounded Rectangle 2"/>
          <p:cNvSpPr/>
          <p:nvPr/>
        </p:nvSpPr>
        <p:spPr>
          <a:xfrm>
            <a:off x="18288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UNSW-NB15  (2015, UNSW Canberra)</a:t>
            </a:r>
          </a:p>
        </p:txBody>
      </p:sp>
      <p:sp>
        <p:nvSpPr>
          <p:cNvPr id="4" name="TextBox 3"/>
          <p:cNvSpPr txBox="1"/>
          <p:nvPr/>
        </p:nvSpPr>
        <p:spPr>
          <a:xfrm>
            <a:off x="18288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(49 features):</a:t>
            </a:r>
          </a:p>
          <a:p>
            <a:pPr>
              <a:spcAft>
                <a:spcPts val="200"/>
              </a:spcAft>
              <a:defRPr sz="1000" b="0">
                <a:solidFill>
                  <a:srgbClr val="7F8C8D"/>
                </a:solidFill>
                <a:latin typeface="Consolas"/>
              </a:defRPr>
            </a:pPr>
            <a:r>
              <a:t>  dur, rate, sbytes, dbytes, spkts, dpkts,</a:t>
            </a:r>
          </a:p>
          <a:p>
            <a:pPr>
              <a:spcAft>
                <a:spcPts val="200"/>
              </a:spcAft>
              <a:defRPr sz="1000" b="0">
                <a:solidFill>
                  <a:srgbClr val="7F8C8D"/>
                </a:solidFill>
                <a:latin typeface="Consolas"/>
              </a:defRPr>
            </a:pPr>
            <a:r>
              <a:t>  ct_srv_src, sttl, sjit, dsport, proto,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IXIA PerfectStorm tool</a:t>
            </a:r>
          </a:p>
          <a:p>
            <a:pPr>
              <a:spcAft>
                <a:spcPts val="200"/>
              </a:spcAft>
              <a:defRPr sz="1000" b="1">
                <a:solidFill>
                  <a:srgbClr val="7B4B2A"/>
                </a:solidFill>
                <a:latin typeface="Consolas"/>
              </a:defRPr>
            </a:pPr>
            <a:r>
              <a:t>Flow Tool: Argus + Bro-IDS</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dur × 1000  (sec → ms)</a:t>
            </a:r>
          </a:p>
          <a:p>
            <a:pPr>
              <a:spcAft>
                <a:spcPts val="200"/>
              </a:spcAft>
              <a:defRPr sz="1000" b="0">
                <a:solidFill>
                  <a:srgbClr val="000000"/>
                </a:solidFill>
                <a:latin typeface="Consolas"/>
              </a:defRPr>
            </a:pPr>
            <a:r>
              <a:t>  pkt_rate      = rate  (or (spkts+dpkts)/dur)</a:t>
            </a:r>
          </a:p>
          <a:p>
            <a:pPr>
              <a:spcAft>
                <a:spcPts val="200"/>
              </a:spcAft>
              <a:defRPr sz="1000" b="0">
                <a:solidFill>
                  <a:srgbClr val="000000"/>
                </a:solidFill>
                <a:latin typeface="Consolas"/>
              </a:defRPr>
            </a:pPr>
            <a:r>
              <a:t>  byte_rate     = sbytes + dbytes</a:t>
            </a:r>
          </a:p>
          <a:p>
            <a:pPr>
              <a:spcAft>
                <a:spcPts val="200"/>
              </a:spcAft>
              <a:defRPr sz="1000" b="0">
                <a:solidFill>
                  <a:srgbClr val="000000"/>
                </a:solidFill>
                <a:latin typeface="Consolas"/>
              </a:defRPr>
            </a:pPr>
            <a:r>
              <a:t>  entropy       = normalize(ct_srv_src, [0,1])</a:t>
            </a:r>
          </a:p>
          <a:p>
            <a:pPr>
              <a:spcAft>
                <a:spcPts val="200"/>
              </a:spcAft>
              <a:defRPr sz="1000" b="0">
                <a:solidFill>
                  <a:srgbClr val="000000"/>
                </a:solidFill>
                <a:latin typeface="Consolas"/>
              </a:defRPr>
            </a:pPr>
            <a:r>
              <a:t>  port_cat      = bin(dsport, [80,443,1K,5K,10K,65K])</a:t>
            </a:r>
          </a:p>
          <a:p>
            <a:pPr>
              <a:spcAft>
                <a:spcPts val="200"/>
              </a:spcAft>
              <a:defRPr sz="1000" b="0">
                <a:solidFill>
                  <a:srgbClr val="000000"/>
                </a:solidFill>
                <a:latin typeface="Consolas"/>
              </a:defRPr>
            </a:pPr>
            <a:r>
              <a:t>  size_cat      = bin(byte_rate, [100,1K,10K,∞])</a:t>
            </a:r>
          </a:p>
          <a:p>
            <a:pPr>
              <a:spcAft>
                <a:spcPts val="200"/>
              </a:spcAft>
              <a:defRPr sz="1000" b="0">
                <a:solidFill>
                  <a:srgbClr val="000000"/>
                </a:solidFill>
                <a:latin typeface="Consolas"/>
              </a:defRPr>
            </a:pPr>
            <a:r>
              <a:t>  protocol      = {tcp:0, udp:1, 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(9): Generic, Exploits, Fuzzers,</a:t>
            </a:r>
          </a:p>
          <a:p>
            <a:pPr>
              <a:spcAft>
                <a:spcPts val="200"/>
              </a:spcAft>
              <a:defRPr sz="1000" b="0">
                <a:solidFill>
                  <a:srgbClr val="C0392B"/>
                </a:solidFill>
                <a:latin typeface="Consolas"/>
              </a:defRPr>
            </a:pPr>
            <a:r>
              <a:t>  DoS, Recon, Analysis, Backdoor, Shellcode, Worms</a:t>
            </a:r>
          </a:p>
          <a:p>
            <a:pPr>
              <a:spcAft>
                <a:spcPts val="200"/>
              </a:spcAft>
              <a:defRPr sz="1000" b="1">
                <a:solidFill>
                  <a:srgbClr val="C0392B"/>
                </a:solidFill>
                <a:latin typeface="Consolas"/>
              </a:defRPr>
            </a:pPr>
            <a:r>
              <a:t>Attack Ratio: ~30%</a:t>
            </a:r>
          </a:p>
        </p:txBody>
      </p:sp>
      <p:sp>
        <p:nvSpPr>
          <p:cNvPr id="5" name="Rounded Rectangle 4"/>
          <p:cNvSpPr/>
          <p:nvPr/>
        </p:nvSpPr>
        <p:spPr>
          <a:xfrm>
            <a:off x="420624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CSE-CIC-IDS-2018  (2018, CIC/UNB)</a:t>
            </a:r>
          </a:p>
        </p:txBody>
      </p:sp>
      <p:sp>
        <p:nvSpPr>
          <p:cNvPr id="6" name="TextBox 5"/>
          <p:cNvSpPr txBox="1"/>
          <p:nvPr/>
        </p:nvSpPr>
        <p:spPr>
          <a:xfrm>
            <a:off x="420624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Packets/s,</a:t>
            </a:r>
          </a:p>
          <a:p>
            <a:pPr>
              <a:spcAft>
                <a:spcPts val="200"/>
              </a:spcAft>
              <a:defRPr sz="1000" b="0">
                <a:solidFill>
                  <a:srgbClr val="7F8C8D"/>
                </a:solidFill>
                <a:latin typeface="Consolas"/>
              </a:defRPr>
            </a:pPr>
            <a:r>
              <a:t>  Flow Bytes/s, Fwd IAT Std,</a:t>
            </a:r>
          </a:p>
          <a:p>
            <a:pPr>
              <a:spcAft>
                <a:spcPts val="200"/>
              </a:spcAft>
              <a:defRPr sz="1000" b="0">
                <a:solidFill>
                  <a:srgbClr val="7F8C8D"/>
                </a:solidFill>
                <a:latin typeface="Consolas"/>
              </a:defRPr>
            </a:pPr>
            <a:r>
              <a:t>  Dst Port, Protocol, Label,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AWS infrastructure (10 days)</a:t>
            </a:r>
          </a:p>
          <a:p>
            <a:pPr>
              <a:spcAft>
                <a:spcPts val="200"/>
              </a:spcAft>
              <a:defRPr sz="1000" b="1">
                <a:solidFill>
                  <a:srgbClr val="7B4B2A"/>
                </a:solidFill>
                <a:latin typeface="Consolas"/>
              </a:defRPr>
            </a:pPr>
            <a:r>
              <a:t>Flow Tool: CICFlowMeter</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entropy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(7): DoS, DDoS, BruteForce,</a:t>
            </a:r>
          </a:p>
          <a:p>
            <a:pPr>
              <a:spcAft>
                <a:spcPts val="200"/>
              </a:spcAft>
              <a:defRPr sz="1000" b="0">
                <a:solidFill>
                  <a:srgbClr val="C0392B"/>
                </a:solidFill>
                <a:latin typeface="Consolas"/>
              </a:defRPr>
            </a:pPr>
            <a:r>
              <a:t>  Infiltration, BotNet, WebAttack, SQL Injection</a:t>
            </a:r>
          </a:p>
          <a:p>
            <a:pPr>
              <a:spcAft>
                <a:spcPts val="200"/>
              </a:spcAft>
              <a:defRPr sz="1000" b="1">
                <a:solidFill>
                  <a:srgbClr val="C0392B"/>
                </a:solidFill>
                <a:latin typeface="Consolas"/>
              </a:defRPr>
            </a:pPr>
            <a:r>
              <a:t>Attack Ratio: ~15%</a:t>
            </a:r>
          </a:p>
        </p:txBody>
      </p:sp>
      <p:sp>
        <p:nvSpPr>
          <p:cNvPr id="7" name="Rounded Rectangle 6"/>
          <p:cNvSpPr/>
          <p:nvPr/>
        </p:nvSpPr>
        <p:spPr>
          <a:xfrm>
            <a:off x="8229600" y="731520"/>
            <a:ext cx="3840480" cy="411480"/>
          </a:xfrm>
          <a:prstGeom prst="roundRect">
            <a:avLst/>
          </a:prstGeom>
          <a:solidFill>
            <a:srgbClr val="003C7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CIC-IDS2017  (2017, CIC/UNB)</a:t>
            </a:r>
          </a:p>
        </p:txBody>
      </p:sp>
      <p:sp>
        <p:nvSpPr>
          <p:cNvPr id="8" name="TextBox 7"/>
          <p:cNvSpPr txBox="1"/>
          <p:nvPr/>
        </p:nvSpPr>
        <p:spPr>
          <a:xfrm>
            <a:off x="8229600" y="1188720"/>
            <a:ext cx="3840480" cy="5029200"/>
          </a:xfrm>
          <a:prstGeom prst="rect">
            <a:avLst/>
          </a:prstGeom>
          <a:noFill/>
        </p:spPr>
        <p:txBody>
          <a:bodyPr wrap="square">
            <a:spAutoFit/>
          </a:bodyPr>
          <a:lstStyle/>
          <a:p>
            <a:pPr>
              <a:spcAft>
                <a:spcPts val="200"/>
              </a:spcAft>
              <a:defRPr sz="1100" b="1">
                <a:solidFill>
                  <a:srgbClr val="000000"/>
                </a:solidFill>
                <a:latin typeface="Consolas"/>
              </a:defRPr>
            </a:pPr>
            <a:r>
              <a:t>Raw Columns (80+ CICFlowMeter features):</a:t>
            </a:r>
          </a:p>
          <a:p>
            <a:pPr>
              <a:spcAft>
                <a:spcPts val="200"/>
              </a:spcAft>
              <a:defRPr sz="1000" b="0">
                <a:solidFill>
                  <a:srgbClr val="7F8C8D"/>
                </a:solidFill>
                <a:latin typeface="Consolas"/>
              </a:defRPr>
            </a:pPr>
            <a:r>
              <a:t>  Flow Duration, Flow Pkts/s,</a:t>
            </a:r>
          </a:p>
          <a:p>
            <a:pPr>
              <a:spcAft>
                <a:spcPts val="200"/>
              </a:spcAft>
              <a:defRPr sz="1000" b="0">
                <a:solidFill>
                  <a:srgbClr val="7F8C8D"/>
                </a:solidFill>
                <a:latin typeface="Consolas"/>
              </a:defRPr>
            </a:pPr>
            <a:r>
              <a:t>  Flow Byts/s, Flow IAT Std,</a:t>
            </a:r>
          </a:p>
          <a:p>
            <a:pPr>
              <a:spcAft>
                <a:spcPts val="200"/>
              </a:spcAft>
              <a:defRPr sz="1000" b="0">
                <a:solidFill>
                  <a:srgbClr val="7F8C8D"/>
                </a:solidFill>
                <a:latin typeface="Consolas"/>
              </a:defRPr>
            </a:pPr>
            <a:r>
              <a:t>  Destination Port, Protocol, Label, ...</a:t>
            </a:r>
          </a:p>
          <a:p>
            <a:pPr>
              <a:spcAft>
                <a:spcPts val="200"/>
              </a:spcAft>
              <a:defRPr sz="400" b="0">
                <a:solidFill>
                  <a:srgbClr val="000000"/>
                </a:solidFill>
                <a:latin typeface="Consolas"/>
              </a:defRPr>
            </a:pPr>
          </a:p>
          <a:p>
            <a:pPr>
              <a:spcAft>
                <a:spcPts val="200"/>
              </a:spcAft>
              <a:defRPr sz="1000" b="1">
                <a:solidFill>
                  <a:srgbClr val="7B4B2A"/>
                </a:solidFill>
                <a:latin typeface="Consolas"/>
              </a:defRPr>
            </a:pPr>
            <a:r>
              <a:t>PCAP Source: CIC lab network (5 days)</a:t>
            </a:r>
          </a:p>
          <a:p>
            <a:pPr>
              <a:spcAft>
                <a:spcPts val="200"/>
              </a:spcAft>
              <a:defRPr sz="1000" b="1">
                <a:solidFill>
                  <a:srgbClr val="7B4B2A"/>
                </a:solidFill>
                <a:latin typeface="Consolas"/>
              </a:defRPr>
            </a:pPr>
            <a:r>
              <a:t>Flow Tool: CICFlowMeter</a:t>
            </a:r>
          </a:p>
          <a:p>
            <a:pPr>
              <a:spcAft>
                <a:spcPts val="200"/>
              </a:spcAft>
              <a:defRPr sz="400" b="0">
                <a:solidFill>
                  <a:srgbClr val="000000"/>
                </a:solidFill>
                <a:latin typeface="Consolas"/>
              </a:defRPr>
            </a:pPr>
          </a:p>
          <a:p>
            <a:pPr>
              <a:spcAft>
                <a:spcPts val="200"/>
              </a:spcAft>
              <a:defRPr sz="1100" b="1">
                <a:solidFill>
                  <a:srgbClr val="003C71"/>
                </a:solidFill>
                <a:latin typeface="Consolas"/>
              </a:defRPr>
            </a:pPr>
            <a:r>
              <a:t>Feature Extraction (same as CSE-CIC):</a:t>
            </a:r>
          </a:p>
          <a:p>
            <a:pPr>
              <a:spcAft>
                <a:spcPts val="200"/>
              </a:spcAft>
              <a:defRPr sz="1000" b="0">
                <a:solidFill>
                  <a:srgbClr val="000000"/>
                </a:solidFill>
                <a:latin typeface="Consolas"/>
              </a:defRPr>
            </a:pPr>
            <a:r>
              <a:t>  flow_duration = Flow Duration / 1000  (μs → ms)</a:t>
            </a:r>
          </a:p>
          <a:p>
            <a:pPr>
              <a:spcAft>
                <a:spcPts val="200"/>
              </a:spcAft>
              <a:defRPr sz="1000" b="0">
                <a:solidFill>
                  <a:srgbClr val="000000"/>
                </a:solidFill>
                <a:latin typeface="Consolas"/>
              </a:defRPr>
            </a:pPr>
            <a:r>
              <a:t>  pkt_rate      = Flow Packets/s</a:t>
            </a:r>
          </a:p>
          <a:p>
            <a:pPr>
              <a:spcAft>
                <a:spcPts val="200"/>
              </a:spcAft>
              <a:defRPr sz="1000" b="0">
                <a:solidFill>
                  <a:srgbClr val="000000"/>
                </a:solidFill>
                <a:latin typeface="Consolas"/>
              </a:defRPr>
            </a:pPr>
            <a:r>
              <a:t>  byte_rate     = Flow Bytes/s</a:t>
            </a:r>
          </a:p>
          <a:p>
            <a:pPr>
              <a:spcAft>
                <a:spcPts val="200"/>
              </a:spcAft>
              <a:defRPr sz="1000" b="0">
                <a:solidFill>
                  <a:srgbClr val="000000"/>
                </a:solidFill>
                <a:latin typeface="Consolas"/>
              </a:defRPr>
            </a:pPr>
            <a:r>
              <a:t>  entropy       = quantile_norm(Fwd IAT Std)</a:t>
            </a:r>
          </a:p>
          <a:p>
            <a:pPr>
              <a:spcAft>
                <a:spcPts val="200"/>
              </a:spcAft>
              <a:defRPr sz="1000" b="0">
                <a:solidFill>
                  <a:srgbClr val="000000"/>
                </a:solidFill>
                <a:latin typeface="Consolas"/>
              </a:defRPr>
            </a:pPr>
            <a:r>
              <a:t>  port_cat      = bin(Dst Port, [80,443,1K,5K,10K,65K])</a:t>
            </a:r>
          </a:p>
          <a:p>
            <a:pPr>
              <a:spcAft>
                <a:spcPts val="200"/>
              </a:spcAft>
              <a:defRPr sz="1000" b="0">
                <a:solidFill>
                  <a:srgbClr val="000000"/>
                </a:solidFill>
                <a:latin typeface="Consolas"/>
              </a:defRPr>
            </a:pPr>
            <a:r>
              <a:t>  size_cat      = bin(bytes×dur, [100,1K,10K,∞])</a:t>
            </a:r>
          </a:p>
          <a:p>
            <a:pPr>
              <a:spcAft>
                <a:spcPts val="200"/>
              </a:spcAft>
              <a:defRPr sz="1000" b="0">
                <a:solidFill>
                  <a:srgbClr val="000000"/>
                </a:solidFill>
                <a:latin typeface="Consolas"/>
              </a:defRPr>
            </a:pPr>
            <a:r>
              <a:t>  protocol      = {6→TCP:0, 17→UDP:1, 1→ICMP:2}</a:t>
            </a:r>
          </a:p>
          <a:p>
            <a:pPr>
              <a:spcAft>
                <a:spcPts val="200"/>
              </a:spcAft>
              <a:defRPr sz="400" b="0">
                <a:solidFill>
                  <a:srgbClr val="000000"/>
                </a:solidFill>
                <a:latin typeface="Consolas"/>
              </a:defRPr>
            </a:pPr>
          </a:p>
          <a:p>
            <a:pPr>
              <a:spcAft>
                <a:spcPts val="200"/>
              </a:spcAft>
              <a:defRPr sz="1000" b="0">
                <a:solidFill>
                  <a:srgbClr val="C0392B"/>
                </a:solidFill>
                <a:latin typeface="Consolas"/>
              </a:defRPr>
            </a:pPr>
            <a:r>
              <a:t>Attack Types (14): DoS, PortScan, DDoS,</a:t>
            </a:r>
          </a:p>
          <a:p>
            <a:pPr>
              <a:spcAft>
                <a:spcPts val="200"/>
              </a:spcAft>
              <a:defRPr sz="1000" b="0">
                <a:solidFill>
                  <a:srgbClr val="C0392B"/>
                </a:solidFill>
                <a:latin typeface="Consolas"/>
              </a:defRPr>
            </a:pPr>
            <a:r>
              <a:t>  BruteForce, WebAttack, Infiltration,</a:t>
            </a:r>
          </a:p>
          <a:p>
            <a:pPr>
              <a:spcAft>
                <a:spcPts val="200"/>
              </a:spcAft>
              <a:defRPr sz="1000" b="0">
                <a:solidFill>
                  <a:srgbClr val="C0392B"/>
                </a:solidFill>
                <a:latin typeface="Consolas"/>
              </a:defRPr>
            </a:pPr>
            <a:r>
              <a:t>  Heartbleed, Botnet, SSH-Patator, ...</a:t>
            </a:r>
          </a:p>
          <a:p>
            <a:pPr>
              <a:spcAft>
                <a:spcPts val="200"/>
              </a:spcAft>
              <a:defRPr sz="1000" b="1">
                <a:solidFill>
                  <a:srgbClr val="C0392B"/>
                </a:solidFill>
                <a:latin typeface="Consolas"/>
              </a:defRPr>
            </a:pPr>
            <a:r>
              <a:t>Attack Ratio: ~20%</a:t>
            </a:r>
          </a:p>
        </p:txBody>
      </p:sp>
      <p:sp>
        <p:nvSpPr>
          <p:cNvPr id="9" name="TextBox 8"/>
          <p:cNvSpPr txBox="1"/>
          <p:nvPr/>
        </p:nvSpPr>
        <p:spPr>
          <a:xfrm>
            <a:off x="274320" y="6126480"/>
            <a:ext cx="11430000" cy="457200"/>
          </a:xfrm>
          <a:prstGeom prst="rect">
            <a:avLst/>
          </a:prstGeom>
          <a:noFill/>
        </p:spPr>
        <p:txBody>
          <a:bodyPr wrap="square">
            <a:spAutoFit/>
          </a:bodyPr>
          <a:lstStyle/>
          <a:p>
            <a:pPr algn="ctr">
              <a:defRPr sz="1300" b="1">
                <a:solidFill>
                  <a:srgbClr val="2980B9"/>
                </a:solidFill>
                <a:latin typeface="Calibri"/>
              </a:defRPr>
            </a:pPr>
            <a:r>
              <a:t>All 3 datasets → Standardized schema:  x_i = [flow_duration, pkt_rate, byte_rate, entropy, port_cat, size_cat, protocol],  y_i ∈ {0,1}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7B4B2A"/>
                </a:solidFill>
                <a:latin typeface="Calibri"/>
              </a:defRPr>
            </a:pPr>
            <a:r>
              <a:t>Stage 0: PCAP Binary Preprocessing &amp; Flow Aggregation  [⚡ Parallelizable]</a:t>
            </a:r>
          </a:p>
        </p:txBody>
      </p:sp>
      <p:sp>
        <p:nvSpPr>
          <p:cNvPr id="3" name="Rectangle 2"/>
          <p:cNvSpPr/>
          <p:nvPr/>
        </p:nvSpPr>
        <p:spPr>
          <a:xfrm>
            <a:off x="274320" y="640080"/>
            <a:ext cx="7132320" cy="53035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5212080"/>
          </a:xfrm>
          <a:prstGeom prst="rect">
            <a:avLst/>
          </a:prstGeom>
          <a:noFill/>
        </p:spPr>
        <p:txBody>
          <a:bodyPr wrap="square">
            <a:spAutoFit/>
          </a:bodyPr>
          <a:lstStyle/>
          <a:p>
            <a:pPr>
              <a:spcAft>
                <a:spcPts val="300"/>
              </a:spcAft>
            </a:pPr>
            <a:r>
              <a:rPr sz="1200" b="1" i="1">
                <a:solidFill>
                  <a:srgbClr val="000000"/>
                </a:solidFill>
                <a:latin typeface="Times New Roman"/>
              </a:rPr>
              <a:t>Algorithm 1: </a:t>
            </a:r>
            <a:r>
              <a:rPr sz="1200" b="1">
                <a:solidFill>
                  <a:srgbClr val="000000"/>
                </a:solidFill>
                <a:latin typeface="Times New Roman"/>
              </a:rPr>
              <a:t>PCAP Binary Preprocessing &amp; Flow Aggregation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Raw binary PCAP file(s) P = {p_1, ..., p_N}</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Flow-level CSV with F features per flow (F=49 for UNSW, F=80+ for CIC)</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PCAP file p_k ∈ P </a:t>
            </a:r>
            <a:r>
              <a:rPr sz="1000" b="1">
                <a:solidFill>
                  <a:srgbClr val="000000"/>
                </a:solidFill>
                <a:latin typeface="Times New Roman"/>
              </a:rPr>
              <a:t>do</a:t>
            </a:r>
            <a:r>
              <a:rPr sz="1000" b="0">
                <a:solidFill>
                  <a:srgbClr val="000000"/>
                </a:solidFill>
                <a:latin typeface="Times New Roman"/>
              </a:rPr>
              <a:t>  // ⚡ parallelizable per file</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raw packet pkt ∈ p_k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0">
                <a:solidFill>
                  <a:srgbClr val="000000"/>
                </a:solidFill>
                <a:latin typeface="Times New Roman"/>
              </a:rPr>
              <a:t>Parse binary headers: Ethernet → IP → TCP/UDP/ICMP</a:t>
            </a:r>
          </a:p>
          <a:p>
            <a:pPr>
              <a:spcBef>
                <a:spcPts val="0"/>
              </a:spcBef>
              <a:spcAft>
                <a:spcPts val="100"/>
              </a:spcAft>
            </a:pPr>
            <a:r>
              <a:rPr sz="1000" b="0">
                <a:solidFill>
                  <a:srgbClr val="7F8C8D"/>
                </a:solidFill>
                <a:latin typeface="Consolas"/>
              </a:rPr>
              <a:t> 4:          </a:t>
            </a:r>
            <a:r>
              <a:rPr sz="1000" b="0">
                <a:solidFill>
                  <a:srgbClr val="000000"/>
                </a:solidFill>
                <a:latin typeface="Times New Roman"/>
              </a:rPr>
              <a:t>Extract 5-tuple: key ← (src_ip, dst_ip, src_port, dst_port, proto)</a:t>
            </a:r>
          </a:p>
          <a:p>
            <a:pPr>
              <a:spcBef>
                <a:spcPts val="0"/>
              </a:spcBef>
              <a:spcAft>
                <a:spcPts val="100"/>
              </a:spcAft>
            </a:pPr>
            <a:r>
              <a:rPr sz="1000" b="0">
                <a:solidFill>
                  <a:srgbClr val="7F8C8D"/>
                </a:solidFill>
                <a:latin typeface="Consolas"/>
              </a:rPr>
              <a:t> 5:          </a:t>
            </a:r>
            <a:r>
              <a:rPr sz="1000" b="1">
                <a:solidFill>
                  <a:srgbClr val="000000"/>
                </a:solidFill>
                <a:latin typeface="Times New Roman"/>
              </a:rPr>
              <a:t>if </a:t>
            </a:r>
            <a:r>
              <a:rPr sz="1000" b="0">
                <a:solidFill>
                  <a:srgbClr val="000000"/>
                </a:solidFill>
                <a:latin typeface="Times New Roman"/>
              </a:rPr>
              <a:t>key ∈ active_flows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6:              </a:t>
            </a:r>
            <a:r>
              <a:rPr sz="1000" b="0">
                <a:solidFill>
                  <a:srgbClr val="000000"/>
                </a:solidFill>
                <a:latin typeface="Times New Roman"/>
              </a:rPr>
              <a:t>active_flows[key].append(pkt)  // add to existing flow</a:t>
            </a:r>
          </a:p>
          <a:p>
            <a:pPr>
              <a:spcBef>
                <a:spcPts val="0"/>
              </a:spcBef>
              <a:spcAft>
                <a:spcPts val="100"/>
              </a:spcAft>
            </a:pPr>
            <a:r>
              <a:rPr sz="1000" b="0">
                <a:solidFill>
                  <a:srgbClr val="7F8C8D"/>
                </a:solidFill>
                <a:latin typeface="Consolas"/>
              </a:rPr>
              <a:t> 7: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8:              </a:t>
            </a:r>
            <a:r>
              <a:rPr sz="1000" b="0">
                <a:solidFill>
                  <a:srgbClr val="000000"/>
                </a:solidFill>
                <a:latin typeface="Times New Roman"/>
              </a:rPr>
              <a:t>active_flows[key] ← new_flow(pkt)  // start new flow</a:t>
            </a:r>
          </a:p>
          <a:p>
            <a:pPr>
              <a:spcBef>
                <a:spcPts val="0"/>
              </a:spcBef>
              <a:spcAft>
                <a:spcPts val="100"/>
              </a:spcAft>
            </a:pPr>
            <a:r>
              <a:rPr sz="1000" b="0">
                <a:solidFill>
                  <a:srgbClr val="7F8C8D"/>
                </a:solidFill>
                <a:latin typeface="Consolas"/>
              </a:rPr>
              <a:t> 9: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11:      </a:t>
            </a:r>
            <a:r>
              <a:rPr sz="1000" b="1">
                <a:solidFill>
                  <a:srgbClr val="000000"/>
                </a:solidFill>
                <a:latin typeface="Times New Roman"/>
              </a:rPr>
              <a:t>for </a:t>
            </a:r>
            <a:r>
              <a:rPr sz="1000" b="0">
                <a:solidFill>
                  <a:srgbClr val="000000"/>
                </a:solidFill>
                <a:latin typeface="Times New Roman"/>
              </a:rPr>
              <a:t>each flow f ∈ active_flows </a:t>
            </a:r>
            <a:r>
              <a:rPr sz="1000" b="1">
                <a:solidFill>
                  <a:srgbClr val="000000"/>
                </a:solidFill>
                <a:latin typeface="Times New Roman"/>
              </a:rPr>
              <a:t>do</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idle_time(f) &gt; T_idle or active_time(f) &gt; T_active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Terminate flow and compute statistical features:</a:t>
            </a:r>
          </a:p>
          <a:p>
            <a:pPr>
              <a:spcBef>
                <a:spcPts val="0"/>
              </a:spcBef>
              <a:spcAft>
                <a:spcPts val="100"/>
              </a:spcAft>
            </a:pPr>
            <a:r>
              <a:rPr sz="1000" b="0">
                <a:solidFill>
                  <a:srgbClr val="7F8C8D"/>
                </a:solidFill>
                <a:latin typeface="Consolas"/>
              </a:rPr>
              <a:t>14:              </a:t>
            </a:r>
            <a:r>
              <a:rPr sz="1000" b="0">
                <a:solidFill>
                  <a:srgbClr val="000000"/>
                </a:solidFill>
                <a:latin typeface="Times New Roman"/>
              </a:rPr>
              <a:t>  duration, pkt_count, byte_count, pkt_rate, byte_rate,</a:t>
            </a:r>
          </a:p>
          <a:p>
            <a:pPr>
              <a:spcBef>
                <a:spcPts val="0"/>
              </a:spcBef>
              <a:spcAft>
                <a:spcPts val="100"/>
              </a:spcAft>
            </a:pPr>
            <a:r>
              <a:rPr sz="1000" b="0">
                <a:solidFill>
                  <a:srgbClr val="7F8C8D"/>
                </a:solidFill>
                <a:latin typeface="Consolas"/>
              </a:rPr>
              <a:t>15:              </a:t>
            </a:r>
            <a:r>
              <a:rPr sz="1000" b="0">
                <a:solidFill>
                  <a:srgbClr val="000000"/>
                </a:solidFill>
                <a:latin typeface="Times New Roman"/>
              </a:rPr>
              <a:t>  fwd/bwd ratios, IAT stats (mean, std, min, max),</a:t>
            </a:r>
          </a:p>
          <a:p>
            <a:pPr>
              <a:spcBef>
                <a:spcPts val="0"/>
              </a:spcBef>
              <a:spcAft>
                <a:spcPts val="100"/>
              </a:spcAft>
            </a:pPr>
            <a:r>
              <a:rPr sz="1000" b="0">
                <a:solidFill>
                  <a:srgbClr val="7F8C8D"/>
                </a:solidFill>
                <a:latin typeface="Consolas"/>
              </a:rPr>
              <a:t>16:              </a:t>
            </a:r>
            <a:r>
              <a:rPr sz="1000" b="0">
                <a:solidFill>
                  <a:srgbClr val="000000"/>
                </a:solidFill>
                <a:latin typeface="Times New Roman"/>
              </a:rPr>
              <a:t>  TCP flags, payload size stats, ...</a:t>
            </a:r>
          </a:p>
          <a:p>
            <a:pPr>
              <a:spcBef>
                <a:spcPts val="0"/>
              </a:spcBef>
              <a:spcAft>
                <a:spcPts val="100"/>
              </a:spcAft>
            </a:pPr>
            <a:r>
              <a:rPr sz="1000" b="0">
                <a:solidFill>
                  <a:srgbClr val="7F8C8D"/>
                </a:solidFill>
                <a:latin typeface="Consolas"/>
              </a:rPr>
              <a:t>17: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19:      </a:t>
            </a:r>
            <a:r>
              <a:rPr sz="1000" b="0">
                <a:solidFill>
                  <a:srgbClr val="000000"/>
                </a:solidFill>
                <a:latin typeface="Times New Roman"/>
              </a:rPr>
              <a:t>Export terminated flows as CSV rows with F feature columns</a:t>
            </a:r>
          </a:p>
          <a:p>
            <a:pPr>
              <a:spcBef>
                <a:spcPts val="0"/>
              </a:spcBef>
              <a:spcAft>
                <a:spcPts val="100"/>
              </a:spcAft>
            </a:pPr>
            <a:r>
              <a:rPr sz="1000" b="0">
                <a:solidFill>
                  <a:srgbClr val="7F8C8D"/>
                </a:solidFill>
                <a:latin typeface="Consolas"/>
              </a:rPr>
              <a:t>20: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21:  </a:t>
            </a:r>
            <a:r>
              <a:rPr sz="1000" b="1">
                <a:solidFill>
                  <a:srgbClr val="000000"/>
                </a:solidFill>
                <a:latin typeface="Times New Roman"/>
              </a:rPr>
              <a:t>return </a:t>
            </a:r>
            <a:r>
              <a:rPr sz="1000" b="0">
                <a:solidFill>
                  <a:srgbClr val="000000"/>
                </a:solidFill>
                <a:latin typeface="Times New Roman"/>
              </a:rPr>
              <a:t>Merged CSV: D_raw with n flows × F features</a:t>
            </a:r>
          </a:p>
        </p:txBody>
      </p:sp>
      <p:pic>
        <p:nvPicPr>
          <p:cNvPr id="5" name="Picture 4" descr="image.png"/>
          <p:cNvPicPr>
            <a:picLocks noChangeAspect="1"/>
          </p:cNvPicPr>
          <p:nvPr/>
        </p:nvPicPr>
        <p:blipFill>
          <a:blip r:embed="rId2"/>
          <a:stretch>
            <a:fillRect/>
          </a:stretch>
        </p:blipFill>
        <p:spPr>
          <a:xfrm>
            <a:off x="7589520" y="640080"/>
            <a:ext cx="4114800" cy="1297417"/>
          </a:xfrm>
          <a:prstGeom prst="rect">
            <a:avLst/>
          </a:prstGeom>
        </p:spPr>
      </p:pic>
      <p:sp>
        <p:nvSpPr>
          <p:cNvPr id="6" name="TextBox 5"/>
          <p:cNvSpPr txBox="1"/>
          <p:nvPr/>
        </p:nvSpPr>
        <p:spPr>
          <a:xfrm>
            <a:off x="7589520" y="2286000"/>
            <a:ext cx="4114800" cy="3200400"/>
          </a:xfrm>
          <a:prstGeom prst="rect">
            <a:avLst/>
          </a:prstGeom>
          <a:noFill/>
        </p:spPr>
        <p:txBody>
          <a:bodyPr wrap="square">
            <a:spAutoFit/>
          </a:bodyPr>
          <a:lstStyle/>
          <a:p>
            <a:pPr>
              <a:spcAft>
                <a:spcPts val="200"/>
              </a:spcAft>
              <a:defRPr sz="1200" b="1">
                <a:solidFill>
                  <a:srgbClr val="7B4B2A"/>
                </a:solidFill>
                <a:latin typeface="Consolas"/>
              </a:defRPr>
            </a:pPr>
            <a:r>
              <a:t>Flow Extraction Tools per Dataset:</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UNSW-NB15:</a:t>
            </a:r>
          </a:p>
          <a:p>
            <a:pPr>
              <a:spcAft>
                <a:spcPts val="200"/>
              </a:spcAft>
              <a:defRPr sz="1000" b="0">
                <a:solidFill>
                  <a:srgbClr val="7F8C8D"/>
                </a:solidFill>
                <a:latin typeface="Consolas"/>
              </a:defRPr>
            </a:pPr>
            <a:r>
              <a:t>  PCAP → Argus + Bro-IDS → 49-column CSV</a:t>
            </a:r>
          </a:p>
          <a:p>
            <a:pPr>
              <a:spcAft>
                <a:spcPts val="200"/>
              </a:spcAft>
              <a:defRPr sz="1000" b="0">
                <a:solidFill>
                  <a:srgbClr val="7F8C8D"/>
                </a:solidFill>
                <a:latin typeface="Consolas"/>
              </a:defRPr>
            </a:pPr>
            <a:r>
              <a:t>  Captures: IXIA PerfectStorm traffic gen</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CSE-CIC-IDS-2018:</a:t>
            </a:r>
          </a:p>
          <a:p>
            <a:pPr>
              <a:spcAft>
                <a:spcPts val="200"/>
              </a:spcAft>
              <a:defRPr sz="1000" b="0">
                <a:solidFill>
                  <a:srgbClr val="7F8C8D"/>
                </a:solidFill>
                <a:latin typeface="Consolas"/>
              </a:defRPr>
            </a:pPr>
            <a:r>
              <a:t>  PCAP → CICFlowMeter v4 → 80+ column CSV</a:t>
            </a:r>
          </a:p>
          <a:p>
            <a:pPr>
              <a:spcAft>
                <a:spcPts val="200"/>
              </a:spcAft>
              <a:defRPr sz="1000" b="0">
                <a:solidFill>
                  <a:srgbClr val="7F8C8D"/>
                </a:solidFill>
                <a:latin typeface="Consolas"/>
              </a:defRPr>
            </a:pPr>
            <a:r>
              <a:t>  Captures: AWS infrastructure, 10-day run</a:t>
            </a:r>
          </a:p>
          <a:p>
            <a:pPr>
              <a:spcAft>
                <a:spcPts val="200"/>
              </a:spcAft>
              <a:defRPr sz="400" b="0">
                <a:solidFill>
                  <a:srgbClr val="000000"/>
                </a:solidFill>
                <a:latin typeface="Consolas"/>
              </a:defRPr>
            </a:pPr>
          </a:p>
          <a:p>
            <a:pPr>
              <a:spcAft>
                <a:spcPts val="200"/>
              </a:spcAft>
              <a:defRPr sz="1100" b="1">
                <a:solidFill>
                  <a:srgbClr val="000000"/>
                </a:solidFill>
                <a:latin typeface="Consolas"/>
              </a:defRPr>
            </a:pPr>
            <a:r>
              <a:t>CIC-IDS2017:</a:t>
            </a:r>
          </a:p>
          <a:p>
            <a:pPr>
              <a:spcAft>
                <a:spcPts val="200"/>
              </a:spcAft>
              <a:defRPr sz="1000" b="0">
                <a:solidFill>
                  <a:srgbClr val="7F8C8D"/>
                </a:solidFill>
                <a:latin typeface="Consolas"/>
              </a:defRPr>
            </a:pPr>
            <a:r>
              <a:t>  PCAP → CICFlowMeter v3 → 80+ column CSV</a:t>
            </a:r>
          </a:p>
          <a:p>
            <a:pPr>
              <a:spcAft>
                <a:spcPts val="200"/>
              </a:spcAft>
              <a:defRPr sz="1000" b="0">
                <a:solidFill>
                  <a:srgbClr val="7F8C8D"/>
                </a:solidFill>
                <a:latin typeface="Consolas"/>
              </a:defRPr>
            </a:pPr>
            <a:r>
              <a:t>  Captures: CIC lab B-Profile, 5-day run</a:t>
            </a:r>
          </a:p>
        </p:txBody>
      </p:sp>
      <p:sp>
        <p:nvSpPr>
          <p:cNvPr id="7" name="TextBox 6"/>
          <p:cNvSpPr txBox="1"/>
          <p:nvPr/>
        </p:nvSpPr>
        <p:spPr>
          <a:xfrm>
            <a:off x="274320" y="6035040"/>
            <a:ext cx="11430000" cy="731520"/>
          </a:xfrm>
          <a:prstGeom prst="rect">
            <a:avLst/>
          </a:prstGeom>
          <a:noFill/>
        </p:spPr>
        <p:txBody>
          <a:bodyPr wrap="square">
            <a:spAutoFit/>
          </a:bodyPr>
          <a:lstStyle/>
          <a:p>
            <a:pPr>
              <a:spcAft>
                <a:spcPts val="400"/>
              </a:spcAft>
              <a:defRPr sz="1000" b="0">
                <a:solidFill>
                  <a:srgbClr val="000000"/>
                </a:solidFill>
                <a:latin typeface="Calibri"/>
              </a:defRPr>
            </a:pPr>
            <a:r>
              <a:t>•  Raw PCAP files contain binary packet data (Ethernet/IP/TCP headers + payload); packets are grouped into bidirectional flows using 5-tuple keys and timeout-based termination.</a:t>
            </a:r>
          </a:p>
          <a:p>
            <a:pPr>
              <a:spcAft>
                <a:spcPts val="400"/>
              </a:spcAft>
              <a:defRPr sz="1000" b="0">
                <a:solidFill>
                  <a:srgbClr val="000000"/>
                </a:solidFill>
                <a:latin typeface="Calibri"/>
              </a:defRPr>
            </a:pPr>
            <a:r>
              <a:t>•  CICFlowMeter (CIC datasets) and Argus/Bro (UNSW-NB15) compute flow-level statistics: duration, packet/byte rates, inter-arrival time distributions, TCP flag counts, and payload size statistics.</a:t>
            </a:r>
          </a:p>
          <a:p>
            <a:pPr>
              <a:spcAft>
                <a:spcPts val="400"/>
              </a:spcAft>
              <a:defRPr sz="1000" b="0">
                <a:solidFill>
                  <a:srgbClr val="000000"/>
                </a:solidFill>
                <a:latin typeface="Calibri"/>
              </a:defRPr>
            </a:pPr>
            <a:r>
              <a:t>•  Each PCAP file is processed independently, enabling embarrassingly parallel preprocessing across multiple capture files or time windows.</a:t>
            </a:r>
          </a:p>
          <a:p>
            <a:pPr>
              <a:spcAft>
                <a:spcPts val="400"/>
              </a:spcAft>
              <a:defRPr sz="1000" b="0">
                <a:solidFill>
                  <a:srgbClr val="000000"/>
                </a:solidFill>
                <a:latin typeface="Calibri"/>
              </a:defRPr>
            </a:pPr>
            <a:r>
              <a:t>•  Output: one CSV row per flow with 49–80+ raw features, which Stage 1 then maps to the standardized 7-feature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003C71"/>
                </a:solidFill>
                <a:latin typeface="Calibri"/>
              </a:defRPr>
            </a:pPr>
            <a:r>
              <a:t>Stage 1: Feature Extraction &amp; StandardScaler Normalization</a:t>
            </a:r>
          </a:p>
        </p:txBody>
      </p:sp>
      <p:sp>
        <p:nvSpPr>
          <p:cNvPr id="3" name="Rectangle 2"/>
          <p:cNvSpPr/>
          <p:nvPr/>
        </p:nvSpPr>
        <p:spPr>
          <a:xfrm>
            <a:off x="274320" y="640080"/>
            <a:ext cx="6858000" cy="429768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206240"/>
          </a:xfrm>
          <a:prstGeom prst="rect">
            <a:avLst/>
          </a:prstGeom>
          <a:noFill/>
        </p:spPr>
        <p:txBody>
          <a:bodyPr wrap="square">
            <a:spAutoFit/>
          </a:bodyPr>
          <a:lstStyle/>
          <a:p>
            <a:pPr>
              <a:spcAft>
                <a:spcPts val="300"/>
              </a:spcAft>
            </a:pPr>
            <a:r>
              <a:rPr sz="1200" b="1" i="1">
                <a:solidFill>
                  <a:srgbClr val="000000"/>
                </a:solidFill>
                <a:latin typeface="Times New Roman"/>
              </a:rPr>
              <a:t>Algorithm 2: </a:t>
            </a:r>
            <a:r>
              <a:rPr sz="1200" b="1">
                <a:solidFill>
                  <a:srgbClr val="000000"/>
                </a:solidFill>
                <a:latin typeface="Times New Roman"/>
              </a:rPr>
              <a:t>Feature Extraction &amp; Z-Score Normalization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Raw CSV D_raw from Stage 0, k ∈ {UNSW, CSE, CIC2017}</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Normalized feature matrix X_norm ∈ R^(n×7), labels y ∈ {0,1}^n</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dataset D_k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column c_j ∈ D_k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1">
                <a:solidFill>
                  <a:srgbClr val="000000"/>
                </a:solidFill>
                <a:latin typeface="Times New Roman"/>
              </a:rPr>
              <a:t>if </a:t>
            </a:r>
            <a:r>
              <a:rPr sz="1000" b="0">
                <a:solidFill>
                  <a:srgbClr val="000000"/>
                </a:solidFill>
                <a:latin typeface="Times New Roman"/>
              </a:rPr>
              <a:t>c_j is numeric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4:              </a:t>
            </a:r>
            <a:r>
              <a:rPr sz="1000" b="0">
                <a:solidFill>
                  <a:srgbClr val="000000"/>
                </a:solidFill>
                <a:latin typeface="Times New Roman"/>
              </a:rPr>
              <a:t>x_j ← map(c_j) using dataset-specific extraction rules</a:t>
            </a:r>
          </a:p>
          <a:p>
            <a:pPr>
              <a:spcBef>
                <a:spcPts val="0"/>
              </a:spcBef>
              <a:spcAft>
                <a:spcPts val="100"/>
              </a:spcAft>
            </a:pPr>
            <a:r>
              <a:rPr sz="1000" b="0">
                <a:solidFill>
                  <a:srgbClr val="7F8C8D"/>
                </a:solidFill>
                <a:latin typeface="Consolas"/>
              </a:rPr>
              <a:t> 5: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6:              </a:t>
            </a:r>
            <a:r>
              <a:rPr sz="1000" b="0">
                <a:solidFill>
                  <a:srgbClr val="000000"/>
                </a:solidFill>
                <a:latin typeface="Times New Roman"/>
              </a:rPr>
              <a:t>x_j ← categorize(c_j) into integer bins</a:t>
            </a:r>
          </a:p>
          <a:p>
            <a:pPr>
              <a:spcBef>
                <a:spcPts val="0"/>
              </a:spcBef>
              <a:spcAft>
                <a:spcPts val="100"/>
              </a:spcAft>
            </a:pPr>
            <a:r>
              <a:rPr sz="1000" b="0">
                <a:solidFill>
                  <a:srgbClr val="7F8C8D"/>
                </a:solidFill>
                <a:latin typeface="Consolas"/>
              </a:rPr>
              <a:t> 7: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 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9:      </a:t>
            </a:r>
            <a:r>
              <a:rPr sz="1000" b="0">
                <a:solidFill>
                  <a:srgbClr val="000000"/>
                </a:solidFill>
                <a:latin typeface="Times New Roman"/>
              </a:rPr>
              <a:t>X ← [x_1, x_2, ..., x_7]  (n × 7 feature matrix)</a:t>
            </a:r>
          </a:p>
          <a:p>
            <a:pPr>
              <a:spcBef>
                <a:spcPts val="0"/>
              </a:spcBef>
              <a:spcAft>
                <a:spcPts val="100"/>
              </a:spcAft>
            </a:pPr>
            <a:r>
              <a:rPr sz="1000" b="0">
                <a:solidFill>
                  <a:srgbClr val="7F8C8D"/>
                </a:solidFill>
                <a:latin typeface="Consolas"/>
              </a:rPr>
              <a:t>10:      </a:t>
            </a:r>
            <a:r>
              <a:rPr sz="1000" b="0">
                <a:solidFill>
                  <a:srgbClr val="000000"/>
                </a:solidFill>
                <a:latin typeface="Times New Roman"/>
              </a:rPr>
              <a:t>μ_j ← (1/n) ∑ x_j^(i),  σ_j ← std(x_j)  </a:t>
            </a:r>
            <a:r>
              <a:rPr sz="1000" b="1">
                <a:solidFill>
                  <a:srgbClr val="000000"/>
                </a:solidFill>
                <a:latin typeface="Times New Roman"/>
              </a:rPr>
              <a:t>for </a:t>
            </a:r>
            <a:r>
              <a:rPr sz="1000" b="0">
                <a:solidFill>
                  <a:srgbClr val="000000"/>
                </a:solidFill>
                <a:latin typeface="Times New Roman"/>
              </a:rPr>
              <a:t>j = 1..4</a:t>
            </a:r>
          </a:p>
          <a:p>
            <a:pPr>
              <a:spcBef>
                <a:spcPts val="0"/>
              </a:spcBef>
              <a:spcAft>
                <a:spcPts val="100"/>
              </a:spcAft>
            </a:pPr>
            <a:r>
              <a:rPr sz="1000" b="0">
                <a:solidFill>
                  <a:srgbClr val="7F8C8D"/>
                </a:solidFill>
                <a:latin typeface="Consolas"/>
              </a:rPr>
              <a:t>11:      </a:t>
            </a:r>
            <a:r>
              <a:rPr sz="1000" b="0">
                <a:solidFill>
                  <a:srgbClr val="000000"/>
                </a:solidFill>
                <a:latin typeface="Times New Roman"/>
              </a:rPr>
              <a:t>z_j^(i) ← (x_j^(i) - μ_j) / σ_j  </a:t>
            </a:r>
            <a:r>
              <a:rPr sz="1000" b="1">
                <a:solidFill>
                  <a:srgbClr val="000000"/>
                </a:solidFill>
                <a:latin typeface="Times New Roman"/>
              </a:rPr>
              <a:t>for </a:t>
            </a:r>
            <a:r>
              <a:rPr sz="1000" b="0">
                <a:solidFill>
                  <a:srgbClr val="000000"/>
                </a:solidFill>
                <a:latin typeface="Times New Roman"/>
              </a:rPr>
              <a:t>continuous features</a:t>
            </a:r>
          </a:p>
          <a:p>
            <a:pPr>
              <a:spcBef>
                <a:spcPts val="0"/>
              </a:spcBef>
              <a:spcAft>
                <a:spcPts val="100"/>
              </a:spcAft>
            </a:pPr>
            <a:r>
              <a:rPr sz="1000" b="0">
                <a:solidFill>
                  <a:srgbClr val="7F8C8D"/>
                </a:solidFill>
                <a:latin typeface="Consolas"/>
              </a:rPr>
              <a:t>12:      </a:t>
            </a:r>
            <a:r>
              <a:rPr sz="1000" b="0">
                <a:solidFill>
                  <a:srgbClr val="000000"/>
                </a:solidFill>
                <a:latin typeface="Times New Roman"/>
              </a:rPr>
              <a:t>X_norm ← [z_1, z_2, z_3, z_4, x_5, x_6, x_7]</a:t>
            </a:r>
          </a:p>
          <a:p>
            <a:pPr>
              <a:spcBef>
                <a:spcPts val="0"/>
              </a:spcBef>
              <a:spcAft>
                <a:spcPts val="100"/>
              </a:spcAft>
            </a:pPr>
            <a:r>
              <a:rPr sz="1000" b="0">
                <a:solidFill>
                  <a:srgbClr val="7F8C8D"/>
                </a:solidFill>
                <a:latin typeface="Consolas"/>
              </a:rPr>
              <a:t>13: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14:  </a:t>
            </a:r>
            <a:r>
              <a:rPr sz="1000" b="1">
                <a:solidFill>
                  <a:srgbClr val="000000"/>
                </a:solidFill>
                <a:latin typeface="Times New Roman"/>
              </a:rPr>
              <a:t>return </a:t>
            </a:r>
            <a:r>
              <a:rPr sz="1000" b="0">
                <a:solidFill>
                  <a:srgbClr val="000000"/>
                </a:solidFill>
                <a:latin typeface="Times New Roman"/>
              </a:rPr>
              <a:t>X_norm, y</a:t>
            </a:r>
          </a:p>
        </p:txBody>
      </p:sp>
      <p:pic>
        <p:nvPicPr>
          <p:cNvPr id="5" name="Picture 4" descr="image.png"/>
          <p:cNvPicPr>
            <a:picLocks noChangeAspect="1"/>
          </p:cNvPicPr>
          <p:nvPr/>
        </p:nvPicPr>
        <p:blipFill>
          <a:blip r:embed="rId2"/>
          <a:stretch>
            <a:fillRect/>
          </a:stretch>
        </p:blipFill>
        <p:spPr>
          <a:xfrm>
            <a:off x="7498079" y="640080"/>
            <a:ext cx="4389120" cy="1569912"/>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Maps the 49–80+ raw CSV columns from Stage 0 into a unified 7-dimensional representation: [flow_duration, pkt_rate, byte_rate, entropy, port_cat, size_cat, protocol].</a:t>
            </a:r>
          </a:p>
          <a:p>
            <a:pPr>
              <a:spcAft>
                <a:spcPts val="400"/>
              </a:spcAft>
              <a:defRPr sz="1100" b="0">
                <a:solidFill>
                  <a:srgbClr val="000000"/>
                </a:solidFill>
                <a:latin typeface="Calibri"/>
              </a:defRPr>
            </a:pPr>
            <a:r>
              <a:t>•  Applies Z-score normalization (StandardScaler) to the 4 continuous features, ensuring zero mean and unit variance to prevent scale dominance.</a:t>
            </a:r>
          </a:p>
          <a:p>
            <a:pPr>
              <a:spcAft>
                <a:spcPts val="400"/>
              </a:spcAft>
              <a:defRPr sz="1100" b="0">
                <a:solidFill>
                  <a:srgbClr val="000000"/>
                </a:solidFill>
                <a:latin typeface="Calibri"/>
              </a:defRPr>
            </a:pPr>
            <a:r>
              <a:t>•  Categorical features (port_cat, size_cat, protocol) are binned into integer categories and passed through unchanged.</a:t>
            </a:r>
          </a:p>
          <a:p>
            <a:pPr>
              <a:spcAft>
                <a:spcPts val="400"/>
              </a:spcAft>
              <a:defRPr sz="1100" b="0">
                <a:solidFill>
                  <a:srgbClr val="000000"/>
                </a:solidFill>
                <a:latin typeface="Calibri"/>
              </a:defRPr>
            </a:pPr>
            <a:r>
              <a:t>•  The scaler is fit on training data only and applied to test data to prevent data leakage.</a:t>
            </a:r>
          </a:p>
        </p:txBody>
      </p:sp>
      <p:sp>
        <p:nvSpPr>
          <p:cNvPr id="7" name="TextBox 6"/>
          <p:cNvSpPr txBox="1"/>
          <p:nvPr/>
        </p:nvSpPr>
        <p:spPr>
          <a:xfrm>
            <a:off x="274320" y="5212080"/>
            <a:ext cx="11430000" cy="365760"/>
          </a:xfrm>
          <a:prstGeom prst="rect">
            <a:avLst/>
          </a:prstGeom>
          <a:noFill/>
        </p:spPr>
        <p:txBody>
          <a:bodyPr wrap="square">
            <a:spAutoFit/>
          </a:bodyPr>
          <a:lstStyle/>
          <a:p>
            <a:pPr algn="ctr">
              <a:defRPr sz="1300" b="1">
                <a:solidFill>
                  <a:srgbClr val="2980B9"/>
                </a:solidFill>
                <a:latin typeface="Calibri"/>
              </a:defRPr>
            </a:pPr>
            <a:r>
              <a:t>Output:  X_norm ∈ R^(n×7), y ∈ {0,1}^n  → Feeds into Stage 2 (Decision Tree)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8E44AD"/>
                </a:solidFill>
                <a:latin typeface="Calibri"/>
              </a:defRPr>
            </a:pPr>
            <a:r>
              <a:t>Stage 2: Decision Tree Symbolic Model (CART)</a:t>
            </a:r>
          </a:p>
        </p:txBody>
      </p:sp>
      <p:sp>
        <p:nvSpPr>
          <p:cNvPr id="3" name="Rectangle 2"/>
          <p:cNvSpPr/>
          <p:nvPr/>
        </p:nvSpPr>
        <p:spPr>
          <a:xfrm>
            <a:off x="274320" y="640080"/>
            <a:ext cx="6858000" cy="466344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572000"/>
          </a:xfrm>
          <a:prstGeom prst="rect">
            <a:avLst/>
          </a:prstGeom>
          <a:noFill/>
        </p:spPr>
        <p:txBody>
          <a:bodyPr wrap="square">
            <a:spAutoFit/>
          </a:bodyPr>
          <a:lstStyle/>
          <a:p>
            <a:pPr>
              <a:spcAft>
                <a:spcPts val="300"/>
              </a:spcAft>
            </a:pPr>
            <a:r>
              <a:rPr sz="1200" b="1" i="1">
                <a:solidFill>
                  <a:srgbClr val="000000"/>
                </a:solidFill>
                <a:latin typeface="Times New Roman"/>
              </a:rPr>
              <a:t>Algorithm 3: </a:t>
            </a:r>
            <a:r>
              <a:rPr sz="1200" b="1">
                <a:solidFill>
                  <a:srgbClr val="000000"/>
                </a:solidFill>
                <a:latin typeface="Times New Roman"/>
              </a:rPr>
              <a:t>CART Decision Tree Training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X_norm ∈ R^(n×7), y ∈ {0,1}^n, max_depth=6, min_leaf=15</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Trained tree T with L leaf nodes, leaf predictions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T ← initialize empty CART tree</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node v in T (breadth-first) </a:t>
            </a:r>
            <a:r>
              <a:rPr sz="1000" b="1">
                <a:solidFill>
                  <a:srgbClr val="000000"/>
                </a:solidFill>
                <a:latin typeface="Times New Roman"/>
              </a:rPr>
              <a:t>do</a:t>
            </a:r>
          </a:p>
          <a:p>
            <a:pPr>
              <a:spcBef>
                <a:spcPts val="0"/>
              </a:spcBef>
              <a:spcAft>
                <a:spcPts val="100"/>
              </a:spcAft>
            </a:pPr>
            <a:r>
              <a:rPr sz="1000" b="0">
                <a:solidFill>
                  <a:srgbClr val="7F8C8D"/>
                </a:solidFill>
                <a:latin typeface="Consolas"/>
              </a:rPr>
              <a:t> 3:      </a:t>
            </a:r>
            <a:r>
              <a:rPr sz="1000" b="1">
                <a:solidFill>
                  <a:srgbClr val="000000"/>
                </a:solidFill>
                <a:latin typeface="Times New Roman"/>
              </a:rPr>
              <a:t>if </a:t>
            </a:r>
            <a:r>
              <a:rPr sz="1000" b="0">
                <a:solidFill>
                  <a:srgbClr val="000000"/>
                </a:solidFill>
                <a:latin typeface="Times New Roman"/>
              </a:rPr>
              <a:t>depth(v) &lt; max_depth and |samples(v)| ≥ 2 × min_leaf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feature j ∈ {1,...,7}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1">
                <a:solidFill>
                  <a:srgbClr val="000000"/>
                </a:solidFill>
                <a:latin typeface="Times New Roman"/>
              </a:rPr>
              <a:t>for </a:t>
            </a:r>
            <a:r>
              <a:rPr sz="1000" b="0">
                <a:solidFill>
                  <a:srgbClr val="000000"/>
                </a:solidFill>
                <a:latin typeface="Times New Roman"/>
              </a:rPr>
              <a:t>each threshold θ in unique_splits(X_j) </a:t>
            </a:r>
            <a:r>
              <a:rPr sz="1000" b="1">
                <a:solidFill>
                  <a:srgbClr val="000000"/>
                </a:solidFill>
                <a:latin typeface="Times New Roman"/>
              </a:rPr>
              <a:t>do</a:t>
            </a:r>
          </a:p>
          <a:p>
            <a:pPr>
              <a:spcBef>
                <a:spcPts val="0"/>
              </a:spcBef>
              <a:spcAft>
                <a:spcPts val="100"/>
              </a:spcAft>
            </a:pPr>
            <a:r>
              <a:rPr sz="1000" b="0">
                <a:solidFill>
                  <a:srgbClr val="7F8C8D"/>
                </a:solidFill>
                <a:latin typeface="Consolas"/>
              </a:rPr>
              <a:t> 6:                  </a:t>
            </a:r>
            <a:r>
              <a:rPr sz="1000" b="0">
                <a:solidFill>
                  <a:srgbClr val="000000"/>
                </a:solidFill>
                <a:latin typeface="Times New Roman"/>
              </a:rPr>
              <a:t>Compute Gini_split = (|S_L|/|S|)·Gini(S_L) + (|S_R|/|S|)·Gini(S_R)</a:t>
            </a:r>
          </a:p>
          <a:p>
            <a:pPr>
              <a:spcBef>
                <a:spcPts val="0"/>
              </a:spcBef>
              <a:spcAft>
                <a:spcPts val="100"/>
              </a:spcAft>
            </a:pPr>
            <a:r>
              <a:rPr sz="1000" b="0">
                <a:solidFill>
                  <a:srgbClr val="7F8C8D"/>
                </a:solidFill>
                <a:latin typeface="Consolas"/>
              </a:rPr>
              <a:t> 7: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8: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 9:          </a:t>
            </a:r>
            <a:r>
              <a:rPr sz="1000" b="0">
                <a:solidFill>
                  <a:srgbClr val="000000"/>
                </a:solidFill>
                <a:latin typeface="Times New Roman"/>
              </a:rPr>
              <a:t>(j*, θ*) ← argmin Gini_split</a:t>
            </a:r>
          </a:p>
          <a:p>
            <a:pPr>
              <a:spcBef>
                <a:spcPts val="0"/>
              </a:spcBef>
              <a:spcAft>
                <a:spcPts val="100"/>
              </a:spcAft>
            </a:pPr>
            <a:r>
              <a:rPr sz="1000" b="0">
                <a:solidFill>
                  <a:srgbClr val="7F8C8D"/>
                </a:solidFill>
                <a:latin typeface="Consolas"/>
              </a:rPr>
              <a:t>10:          </a:t>
            </a:r>
            <a:r>
              <a:rPr sz="1000" b="0">
                <a:solidFill>
                  <a:srgbClr val="000000"/>
                </a:solidFill>
                <a:latin typeface="Times New Roman"/>
              </a:rPr>
              <a:t>Split v into left child (x_{j*} ≤ θ*) and right child (x_{j*} &gt; θ*)</a:t>
            </a:r>
          </a:p>
          <a:p>
            <a:pPr>
              <a:spcBef>
                <a:spcPts val="0"/>
              </a:spcBef>
              <a:spcAft>
                <a:spcPts val="100"/>
              </a:spcAft>
            </a:pPr>
            <a:r>
              <a:rPr sz="1000" b="0">
                <a:solidFill>
                  <a:srgbClr val="7F8C8D"/>
                </a:solidFill>
                <a:latin typeface="Consolas"/>
              </a:rPr>
              <a:t>11: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12:          </a:t>
            </a:r>
            <a:r>
              <a:rPr sz="1000" b="0">
                <a:solidFill>
                  <a:srgbClr val="000000"/>
                </a:solidFill>
                <a:latin typeface="Times New Roman"/>
              </a:rPr>
              <a:t>Mark v as leaf: P(attack|v) = n_attack / n_total</a:t>
            </a:r>
          </a:p>
          <a:p>
            <a:pPr>
              <a:spcBef>
                <a:spcPts val="0"/>
              </a:spcBef>
              <a:spcAft>
                <a:spcPts val="100"/>
              </a:spcAft>
            </a:pPr>
            <a:r>
              <a:rPr sz="1000" b="0">
                <a:solidFill>
                  <a:srgbClr val="7F8C8D"/>
                </a:solidFill>
                <a:latin typeface="Consolas"/>
              </a:rPr>
              <a:t>13: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T, {leaf_id(x_i), P(attack|x_i), ŷ_DT(x_i)} </a:t>
            </a:r>
            <a:r>
              <a:rPr sz="1000" b="1">
                <a:solidFill>
                  <a:srgbClr val="000000"/>
                </a:solidFill>
                <a:latin typeface="Times New Roman"/>
              </a:rPr>
              <a:t>for </a:t>
            </a:r>
            <a:r>
              <a:rPr sz="1000" b="0">
                <a:solidFill>
                  <a:srgbClr val="000000"/>
                </a:solidFill>
                <a:latin typeface="Times New Roman"/>
              </a:rPr>
              <a:t>all x_i</a:t>
            </a:r>
          </a:p>
        </p:txBody>
      </p:sp>
      <p:pic>
        <p:nvPicPr>
          <p:cNvPr id="5" name="Picture 4" descr="image.png"/>
          <p:cNvPicPr>
            <a:picLocks noChangeAspect="1"/>
          </p:cNvPicPr>
          <p:nvPr/>
        </p:nvPicPr>
        <p:blipFill>
          <a:blip r:embed="rId2"/>
          <a:stretch>
            <a:fillRect/>
          </a:stretch>
        </p:blipFill>
        <p:spPr>
          <a:xfrm>
            <a:off x="7498079" y="640080"/>
            <a:ext cx="4114800" cy="1641329"/>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Trains a CART decision tree (max_depth=6, min_samples_leaf=15) to serve as the interpretable symbolic model whose paths become Z3 constraints.</a:t>
            </a:r>
          </a:p>
          <a:p>
            <a:pPr>
              <a:spcAft>
                <a:spcPts val="400"/>
              </a:spcAft>
              <a:defRPr sz="1100" b="0">
                <a:solidFill>
                  <a:srgbClr val="000000"/>
                </a:solidFill>
                <a:latin typeface="Calibri"/>
              </a:defRPr>
            </a:pPr>
            <a:r>
              <a:t>•  Each leaf node provides: a discrete state ID for Q-learning (Stage 4), an attack probability P(attack|leaf), and a baseline classification.</a:t>
            </a:r>
          </a:p>
          <a:p>
            <a:pPr>
              <a:spcAft>
                <a:spcPts val="400"/>
              </a:spcAft>
              <a:defRPr sz="1100" b="0">
                <a:solidFill>
                  <a:srgbClr val="000000"/>
                </a:solidFill>
                <a:latin typeface="Calibri"/>
              </a:defRPr>
            </a:pPr>
            <a:r>
              <a:t>•  The shallow depth (max 64 leaves) keeps Z3 constraint extraction tractable while maintaining sufficient classification expressiveness.</a:t>
            </a:r>
          </a:p>
          <a:p>
            <a:pPr>
              <a:spcAft>
                <a:spcPts val="400"/>
              </a:spcAft>
              <a:defRPr sz="1100" b="0">
                <a:solidFill>
                  <a:srgbClr val="000000"/>
                </a:solidFill>
                <a:latin typeface="Calibri"/>
              </a:defRPr>
            </a:pPr>
            <a:r>
              <a:t>•  Gini impurity guides feature splits—pure leaves (Gini=0) give high-confidence predictions; impure leaves are deferred to the RL agent.</a:t>
            </a:r>
          </a:p>
        </p:txBody>
      </p:sp>
      <p:sp>
        <p:nvSpPr>
          <p:cNvPr id="7" name="TextBox 6"/>
          <p:cNvSpPr txBox="1"/>
          <p:nvPr/>
        </p:nvSpPr>
        <p:spPr>
          <a:xfrm>
            <a:off x="274320" y="5669280"/>
            <a:ext cx="11430000" cy="365760"/>
          </a:xfrm>
          <a:prstGeom prst="rect">
            <a:avLst/>
          </a:prstGeom>
          <a:noFill/>
        </p:spPr>
        <p:txBody>
          <a:bodyPr wrap="square">
            <a:spAutoFit/>
          </a:bodyPr>
          <a:lstStyle/>
          <a:p>
            <a:pPr algn="ctr">
              <a:defRPr sz="1300" b="1">
                <a:solidFill>
                  <a:srgbClr val="2980B9"/>
                </a:solidFill>
                <a:latin typeface="Calibri"/>
              </a:defRPr>
            </a:pPr>
            <a:r>
              <a:t>Output: Tree T with L leaves → Feeds into Stage 3 (Z3 extraction) + Stage 4 (leaf_id as RL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7AE60"/>
                </a:solidFill>
                <a:latin typeface="Calibri"/>
              </a:defRPr>
            </a:pPr>
            <a:r>
              <a:t>Stage 3: Z3 SMT Constraint Extraction  [⚡ Parallelizable per Leaf Path]</a:t>
            </a:r>
          </a:p>
        </p:txBody>
      </p:sp>
      <p:sp>
        <p:nvSpPr>
          <p:cNvPr id="3" name="Rectangle 2"/>
          <p:cNvSpPr/>
          <p:nvPr/>
        </p:nvSpPr>
        <p:spPr>
          <a:xfrm>
            <a:off x="274320" y="640080"/>
            <a:ext cx="6858000" cy="48463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754880"/>
          </a:xfrm>
          <a:prstGeom prst="rect">
            <a:avLst/>
          </a:prstGeom>
          <a:noFill/>
        </p:spPr>
        <p:txBody>
          <a:bodyPr wrap="square">
            <a:spAutoFit/>
          </a:bodyPr>
          <a:lstStyle/>
          <a:p>
            <a:pPr>
              <a:spcAft>
                <a:spcPts val="300"/>
              </a:spcAft>
            </a:pPr>
            <a:r>
              <a:rPr sz="1200" b="1" i="1">
                <a:solidFill>
                  <a:srgbClr val="000000"/>
                </a:solidFill>
                <a:latin typeface="Times New Roman"/>
              </a:rPr>
              <a:t>Algorithm 4: </a:t>
            </a:r>
            <a:r>
              <a:rPr sz="1200" b="1">
                <a:solidFill>
                  <a:srgbClr val="000000"/>
                </a:solidFill>
                <a:latin typeface="Times New Roman"/>
              </a:rPr>
              <a:t>Z3 Constraint Extraction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Trained decision tree T with L leaf nodes</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Constraint set C = {φ_1, ..., φ_|C|} of Z3 implications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C ← ∅</a:t>
            </a:r>
          </a:p>
          <a:p>
            <a:pPr>
              <a:spcBef>
                <a:spcPts val="0"/>
              </a:spcBef>
              <a:spcAft>
                <a:spcPts val="100"/>
              </a:spcAft>
            </a:pPr>
            <a:r>
              <a:rPr sz="1000" b="0">
                <a:solidFill>
                  <a:srgbClr val="7F8C8D"/>
                </a:solidFill>
                <a:latin typeface="Consolas"/>
              </a:rPr>
              <a:t> 2:  </a:t>
            </a:r>
            <a:r>
              <a:rPr sz="1000" b="1">
                <a:solidFill>
                  <a:srgbClr val="000000"/>
                </a:solidFill>
                <a:latin typeface="Times New Roman"/>
              </a:rPr>
              <a:t>for </a:t>
            </a:r>
            <a:r>
              <a:rPr sz="1000" b="0">
                <a:solidFill>
                  <a:srgbClr val="000000"/>
                </a:solidFill>
                <a:latin typeface="Times New Roman"/>
              </a:rPr>
              <a:t>each leaf l ∈ {1, ..., L} </a:t>
            </a:r>
            <a:r>
              <a:rPr sz="1000" b="1">
                <a:solidFill>
                  <a:srgbClr val="000000"/>
                </a:solidFill>
                <a:latin typeface="Times New Roman"/>
              </a:rPr>
              <a:t>do</a:t>
            </a:r>
            <a:r>
              <a:rPr sz="1000" b="0">
                <a:solidFill>
                  <a:srgbClr val="000000"/>
                </a:solidFill>
                <a:latin typeface="Times New Roman"/>
              </a:rPr>
              <a:t>  // ⚡ parallelizable per leaf</a:t>
            </a:r>
          </a:p>
          <a:p>
            <a:pPr>
              <a:spcBef>
                <a:spcPts val="0"/>
              </a:spcBef>
              <a:spcAft>
                <a:spcPts val="100"/>
              </a:spcAft>
            </a:pPr>
            <a:r>
              <a:rPr sz="1000" b="0">
                <a:solidFill>
                  <a:srgbClr val="7F8C8D"/>
                </a:solidFill>
                <a:latin typeface="Consolas"/>
              </a:rPr>
              <a:t> 3:      </a:t>
            </a:r>
            <a:r>
              <a:rPr sz="1000" b="0">
                <a:solidFill>
                  <a:srgbClr val="000000"/>
                </a:solidFill>
                <a:latin typeface="Times New Roman"/>
              </a:rPr>
              <a:t>π_l ← extract_path(root, l)  // walk tree root → leaf</a:t>
            </a:r>
          </a:p>
          <a:p>
            <a:pPr>
              <a:spcBef>
                <a:spcPts val="0"/>
              </a:spcBef>
              <a:spcAft>
                <a:spcPts val="100"/>
              </a:spcAft>
            </a:pPr>
            <a:r>
              <a:rPr sz="1000" b="0">
                <a:solidFill>
                  <a:srgbClr val="7F8C8D"/>
                </a:solidFill>
                <a:latin typeface="Consolas"/>
              </a:rPr>
              <a:t> 4:      </a:t>
            </a:r>
            <a:r>
              <a:rPr sz="1000" b="0">
                <a:solidFill>
                  <a:srgbClr val="000000"/>
                </a:solidFill>
                <a:latin typeface="Times New Roman"/>
              </a:rPr>
              <a:t>conditions ← []</a:t>
            </a:r>
          </a:p>
          <a:p>
            <a:pPr>
              <a:spcBef>
                <a:spcPts val="0"/>
              </a:spcBef>
              <a:spcAft>
                <a:spcPts val="100"/>
              </a:spcAft>
            </a:pPr>
            <a:r>
              <a:rPr sz="1000" b="0">
                <a:solidFill>
                  <a:srgbClr val="7F8C8D"/>
                </a:solidFill>
                <a:latin typeface="Consolas"/>
              </a:rPr>
              <a:t> 5:      </a:t>
            </a:r>
            <a:r>
              <a:rPr sz="1000" b="1">
                <a:solidFill>
                  <a:srgbClr val="000000"/>
                </a:solidFill>
                <a:latin typeface="Times New Roman"/>
              </a:rPr>
              <a:t>for </a:t>
            </a:r>
            <a:r>
              <a:rPr sz="1000" b="0">
                <a:solidFill>
                  <a:srgbClr val="000000"/>
                </a:solidFill>
                <a:latin typeface="Times New Roman"/>
              </a:rPr>
              <a:t>each split (feature_j, threshold_θ, direction) in π_l </a:t>
            </a:r>
            <a:r>
              <a:rPr sz="1000" b="1">
                <a:solidFill>
                  <a:srgbClr val="000000"/>
                </a:solidFill>
                <a:latin typeface="Times New Roman"/>
              </a:rPr>
              <a:t>do</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direction = left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conditions.append( Real(f_j) ≤ θ )</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conditions.append( Real(f_j) &gt; θ )</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11: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12:      </a:t>
            </a:r>
            <a:r>
              <a:rPr sz="1000" b="0">
                <a:solidFill>
                  <a:srgbClr val="000000"/>
                </a:solidFill>
                <a:latin typeface="Times New Roman"/>
              </a:rPr>
              <a:t>φ_l ← Implies( And(conditions), Int(action) == class(l) )</a:t>
            </a:r>
          </a:p>
          <a:p>
            <a:pPr>
              <a:spcBef>
                <a:spcPts val="0"/>
              </a:spcBef>
              <a:spcAft>
                <a:spcPts val="100"/>
              </a:spcAft>
            </a:pPr>
            <a:r>
              <a:rPr sz="1000" b="0">
                <a:solidFill>
                  <a:srgbClr val="7F8C8D"/>
                </a:solidFill>
                <a:latin typeface="Consolas"/>
              </a:rPr>
              <a:t>13:      </a:t>
            </a:r>
            <a:r>
              <a:rPr sz="1000" b="1">
                <a:solidFill>
                  <a:srgbClr val="000000"/>
                </a:solidFill>
                <a:latin typeface="Times New Roman"/>
              </a:rPr>
              <a:t>if </a:t>
            </a:r>
            <a:r>
              <a:rPr sz="1000" b="0">
                <a:solidFill>
                  <a:srgbClr val="000000"/>
                </a:solidFill>
                <a:latin typeface="Times New Roman"/>
              </a:rPr>
              <a:t>solver.check(C ∪ {φ_l})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14:          </a:t>
            </a:r>
            <a:r>
              <a:rPr sz="1000" b="0">
                <a:solidFill>
                  <a:srgbClr val="000000"/>
                </a:solidFill>
                <a:latin typeface="Times New Roman"/>
              </a:rPr>
              <a:t>C ← C ∪ {φ_l}</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16: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17:  </a:t>
            </a:r>
            <a:r>
              <a:rPr sz="1000" b="1">
                <a:solidFill>
                  <a:srgbClr val="000000"/>
                </a:solidFill>
                <a:latin typeface="Times New Roman"/>
              </a:rPr>
              <a:t>return </a:t>
            </a:r>
            <a:r>
              <a:rPr sz="1000" b="0">
                <a:solidFill>
                  <a:srgbClr val="000000"/>
                </a:solidFill>
                <a:latin typeface="Times New Roman"/>
              </a:rPr>
              <a:t>C</a:t>
            </a:r>
          </a:p>
        </p:txBody>
      </p:sp>
      <p:pic>
        <p:nvPicPr>
          <p:cNvPr id="5" name="Picture 4" descr="image.png"/>
          <p:cNvPicPr>
            <a:picLocks noChangeAspect="1"/>
          </p:cNvPicPr>
          <p:nvPr/>
        </p:nvPicPr>
        <p:blipFill>
          <a:blip r:embed="rId2"/>
          <a:stretch>
            <a:fillRect/>
          </a:stretch>
        </p:blipFill>
        <p:spPr>
          <a:xfrm>
            <a:off x="7498079" y="640080"/>
            <a:ext cx="4389120" cy="1486550"/>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Traverses each root-to-leaf path in the decision tree, converting feature threshold comparisons into Z3 Real/Int constraints with Implies() implications.</a:t>
            </a:r>
          </a:p>
          <a:p>
            <a:pPr>
              <a:spcAft>
                <a:spcPts val="400"/>
              </a:spcAft>
              <a:defRPr sz="1100" b="0">
                <a:solidFill>
                  <a:srgbClr val="000000"/>
                </a:solidFill>
                <a:latin typeface="Calibri"/>
              </a:defRPr>
            </a:pPr>
            <a:r>
              <a:t>•  Each constraint φ_l states: if the conjunction of feature conditions along path π_l holds, then the action must equal the leaf's predicted class.</a:t>
            </a:r>
          </a:p>
          <a:p>
            <a:pPr>
              <a:spcAft>
                <a:spcPts val="400"/>
              </a:spcAft>
              <a:defRPr sz="1100" b="0">
                <a:solidFill>
                  <a:srgbClr val="000000"/>
                </a:solidFill>
                <a:latin typeface="Calibri"/>
              </a:defRPr>
            </a:pPr>
            <a:r>
              <a:t>•  Leaf paths are independent—each can be extracted in parallel across CPU cores, with a final sequential merge and satisfiability check.</a:t>
            </a:r>
          </a:p>
          <a:p>
            <a:pPr>
              <a:spcAft>
                <a:spcPts val="400"/>
              </a:spcAft>
              <a:defRPr sz="1100" b="0">
                <a:solidFill>
                  <a:srgbClr val="000000"/>
                </a:solidFill>
                <a:latin typeface="Calibri"/>
              </a:defRPr>
            </a:pPr>
            <a:r>
              <a:t>•  The resulting constraint set C enables runtime verification: any proposed RL action can be checked against C using Z3's SMT solver in O(ms) time.</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Constraint set C → Used by Stage 4 (Q-Learning safety shield) and updated by Stage 5 (DBSCAN)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E67E22"/>
                </a:solidFill>
                <a:latin typeface="Calibri"/>
              </a:defRPr>
            </a:pPr>
            <a:r>
              <a:t>Stage 4: Q-Learning Reinforcement Learning with Z3 Safety Shielding</a:t>
            </a:r>
          </a:p>
        </p:txBody>
      </p:sp>
      <p:sp>
        <p:nvSpPr>
          <p:cNvPr id="3" name="Rectangle 2"/>
          <p:cNvSpPr/>
          <p:nvPr/>
        </p:nvSpPr>
        <p:spPr>
          <a:xfrm>
            <a:off x="274320" y="640080"/>
            <a:ext cx="7315200" cy="53035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7040880" cy="5212080"/>
          </a:xfrm>
          <a:prstGeom prst="rect">
            <a:avLst/>
          </a:prstGeom>
          <a:noFill/>
        </p:spPr>
        <p:txBody>
          <a:bodyPr wrap="square">
            <a:spAutoFit/>
          </a:bodyPr>
          <a:lstStyle/>
          <a:p>
            <a:pPr>
              <a:spcAft>
                <a:spcPts val="300"/>
              </a:spcAft>
            </a:pPr>
            <a:r>
              <a:rPr sz="1200" b="1" i="1">
                <a:solidFill>
                  <a:srgbClr val="000000"/>
                </a:solidFill>
                <a:latin typeface="Times New Roman"/>
              </a:rPr>
              <a:t>Algorithm 5: </a:t>
            </a:r>
            <a:r>
              <a:rPr sz="1200" b="1">
                <a:solidFill>
                  <a:srgbClr val="000000"/>
                </a:solidFill>
                <a:latin typeface="Times New Roman"/>
              </a:rPr>
              <a:t>Q-Learning with Z3 Safety Shielding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Constraint set C, DT tree T, training data (X, y)</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Learned Q-table Q(s, a) with safety-verified actions</a:t>
            </a:r>
          </a:p>
          <a:p>
            <a:pPr>
              <a:spcBef>
                <a:spcPts val="0"/>
              </a:spcBef>
              <a:spcAft>
                <a:spcPts val="100"/>
              </a:spcAft>
            </a:pPr>
            <a:r>
              <a:rPr sz="1000" b="0">
                <a:solidFill>
                  <a:srgbClr val="7F8C8D"/>
                </a:solidFill>
                <a:latin typeface="Consolas"/>
              </a:rPr>
              <a:t> 1:  </a:t>
            </a:r>
            <a:r>
              <a:rPr sz="1000" b="0">
                <a:solidFill>
                  <a:srgbClr val="000000"/>
                </a:solidFill>
                <a:latin typeface="Times New Roman"/>
              </a:rPr>
              <a:t>Initialize Q(s, a) ← 0 </a:t>
            </a:r>
            <a:r>
              <a:rPr sz="1000" b="1">
                <a:solidFill>
                  <a:srgbClr val="000000"/>
                </a:solidFill>
                <a:latin typeface="Times New Roman"/>
              </a:rPr>
              <a:t>for </a:t>
            </a:r>
            <a:r>
              <a:rPr sz="1000" b="0">
                <a:solidFill>
                  <a:srgbClr val="000000"/>
                </a:solidFill>
                <a:latin typeface="Times New Roman"/>
              </a:rPr>
              <a:t>all states s, actions a ∈ {0, 1}</a:t>
            </a:r>
          </a:p>
          <a:p>
            <a:pPr>
              <a:spcBef>
                <a:spcPts val="0"/>
              </a:spcBef>
              <a:spcAft>
                <a:spcPts val="100"/>
              </a:spcAft>
            </a:pPr>
            <a:r>
              <a:rPr sz="1000" b="0">
                <a:solidFill>
                  <a:srgbClr val="7F8C8D"/>
                </a:solidFill>
                <a:latin typeface="Consolas"/>
              </a:rPr>
              <a:t> 2:  </a:t>
            </a:r>
            <a:r>
              <a:rPr sz="1000" b="0">
                <a:solidFill>
                  <a:srgbClr val="000000"/>
                </a:solidFill>
                <a:latin typeface="Times New Roman"/>
              </a:rPr>
              <a:t>ε ← 0.20, α ← 0.15, γ ← 0.95</a:t>
            </a:r>
          </a:p>
          <a:p>
            <a:pPr>
              <a:spcBef>
                <a:spcPts val="0"/>
              </a:spcBef>
              <a:spcAft>
                <a:spcPts val="100"/>
              </a:spcAft>
            </a:pPr>
            <a:r>
              <a:rPr sz="1000" b="0">
                <a:solidFill>
                  <a:srgbClr val="7F8C8D"/>
                </a:solidFill>
                <a:latin typeface="Consolas"/>
              </a:rPr>
              <a:t> 3:  </a:t>
            </a:r>
            <a:r>
              <a:rPr sz="1000" b="1">
                <a:solidFill>
                  <a:srgbClr val="000000"/>
                </a:solidFill>
                <a:latin typeface="Times New Roman"/>
              </a:rPr>
              <a:t>for </a:t>
            </a:r>
            <a:r>
              <a:rPr sz="1000" b="0">
                <a:solidFill>
                  <a:srgbClr val="000000"/>
                </a:solidFill>
                <a:latin typeface="Times New Roman"/>
              </a:rPr>
              <a:t>each episode e = 1, ..., E </a:t>
            </a:r>
            <a:r>
              <a:rPr sz="1000" b="1">
                <a:solidFill>
                  <a:srgbClr val="000000"/>
                </a:solidFill>
                <a:latin typeface="Times New Roman"/>
              </a:rPr>
              <a:t>do</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flow x_i in training batch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0">
                <a:solidFill>
                  <a:srgbClr val="000000"/>
                </a:solidFill>
                <a:latin typeface="Times New Roman"/>
              </a:rPr>
              <a:t>s_i ← leaf_id(T, x_i)  // DT leaf as discrete state</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ran</a:t>
            </a:r>
            <a:r>
              <a:rPr sz="1000" b="1">
                <a:solidFill>
                  <a:srgbClr val="000000"/>
                </a:solidFill>
                <a:latin typeface="Times New Roman"/>
              </a:rPr>
              <a:t>do</a:t>
            </a:r>
            <a:r>
              <a:rPr sz="1000" b="0">
                <a:solidFill>
                  <a:srgbClr val="000000"/>
                </a:solidFill>
                <a:latin typeface="Times New Roman"/>
              </a:rPr>
              <a:t>m() &lt; ε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a_proposed ← ran</a:t>
            </a:r>
            <a:r>
              <a:rPr sz="1000" b="1">
                <a:solidFill>
                  <a:srgbClr val="000000"/>
                </a:solidFill>
                <a:latin typeface="Times New Roman"/>
              </a:rPr>
              <a:t>do</a:t>
            </a:r>
            <a:r>
              <a:rPr sz="1000" b="0">
                <a:solidFill>
                  <a:srgbClr val="000000"/>
                </a:solidFill>
                <a:latin typeface="Times New Roman"/>
              </a:rPr>
              <a:t>m_action({0, 1})  // explore</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a_proposed ← argmax_a Q(s_i, a)  // exploit</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11:          </a:t>
            </a:r>
            <a:r>
              <a:rPr sz="1000" b="1">
                <a:solidFill>
                  <a:srgbClr val="000000"/>
                </a:solidFill>
                <a:latin typeface="Times New Roman"/>
              </a:rPr>
              <a:t>if </a:t>
            </a:r>
            <a:r>
              <a:rPr sz="1000" b="0">
                <a:solidFill>
                  <a:srgbClr val="000000"/>
                </a:solidFill>
                <a:latin typeface="Times New Roman"/>
              </a:rPr>
              <a:t>Z3_verify(C, x_i, a_proposed)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12:              </a:t>
            </a:r>
            <a:r>
              <a:rPr sz="1000" b="0">
                <a:solidFill>
                  <a:srgbClr val="000000"/>
                </a:solidFill>
                <a:latin typeface="Times New Roman"/>
              </a:rPr>
              <a:t>a_i ← a_proposed  // action is safe</a:t>
            </a:r>
          </a:p>
          <a:p>
            <a:pPr>
              <a:spcBef>
                <a:spcPts val="0"/>
              </a:spcBef>
              <a:spcAft>
                <a:spcPts val="100"/>
              </a:spcAft>
            </a:pPr>
            <a:r>
              <a:rPr sz="1000" b="0">
                <a:solidFill>
                  <a:srgbClr val="7F8C8D"/>
                </a:solidFill>
                <a:latin typeface="Consolas"/>
              </a:rPr>
              <a:t>13: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14:              </a:t>
            </a:r>
            <a:r>
              <a:rPr sz="1000" b="0">
                <a:solidFill>
                  <a:srgbClr val="000000"/>
                </a:solidFill>
                <a:latin typeface="Times New Roman"/>
              </a:rPr>
              <a:t>a_i ← 1 - a_proposed  // safety shield override</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16:          </a:t>
            </a:r>
            <a:r>
              <a:rPr sz="1000" b="0">
                <a:solidFill>
                  <a:srgbClr val="000000"/>
                </a:solidFill>
                <a:latin typeface="Times New Roman"/>
              </a:rPr>
              <a:t>r_i ← Reward(a_i, y_i)  // TP:+2, FN:-3, TN:+1, FP:-1</a:t>
            </a:r>
          </a:p>
          <a:p>
            <a:pPr>
              <a:spcBef>
                <a:spcPts val="0"/>
              </a:spcBef>
              <a:spcAft>
                <a:spcPts val="100"/>
              </a:spcAft>
            </a:pPr>
            <a:r>
              <a:rPr sz="1000" b="0">
                <a:solidFill>
                  <a:srgbClr val="7F8C8D"/>
                </a:solidFill>
                <a:latin typeface="Consolas"/>
              </a:rPr>
              <a:t>17:          </a:t>
            </a:r>
            <a:r>
              <a:rPr sz="1000" b="1">
                <a:solidFill>
                  <a:srgbClr val="000000"/>
                </a:solidFill>
                <a:latin typeface="Times New Roman"/>
              </a:rPr>
              <a:t>if </a:t>
            </a:r>
            <a:r>
              <a:rPr sz="1000" b="0">
                <a:solidFill>
                  <a:srgbClr val="000000"/>
                </a:solidFill>
                <a:latin typeface="Times New Roman"/>
              </a:rPr>
              <a:t>Z3_verify passed </a:t>
            </a:r>
            <a:r>
              <a:rPr sz="1000" b="1">
                <a:solidFill>
                  <a:srgbClr val="000000"/>
                </a:solidFill>
                <a:latin typeface="Times New Roman"/>
              </a:rPr>
              <a:t>then</a:t>
            </a:r>
            <a:r>
              <a:rPr sz="1000" b="0">
                <a:solidFill>
                  <a:srgbClr val="000000"/>
                </a:solidFill>
                <a:latin typeface="Times New Roman"/>
              </a:rPr>
              <a:t> r_i ← r_i + 0.5  // shield bonus</a:t>
            </a:r>
          </a:p>
          <a:p>
            <a:pPr>
              <a:spcBef>
                <a:spcPts val="0"/>
              </a:spcBef>
              <a:spcAft>
                <a:spcPts val="100"/>
              </a:spcAft>
            </a:pPr>
            <a:r>
              <a:rPr sz="1000" b="0">
                <a:solidFill>
                  <a:srgbClr val="7F8C8D"/>
                </a:solidFill>
                <a:latin typeface="Consolas"/>
              </a:rPr>
              <a:t>18:          </a:t>
            </a:r>
            <a:r>
              <a:rPr sz="1000" b="0">
                <a:solidFill>
                  <a:srgbClr val="000000"/>
                </a:solidFill>
                <a:latin typeface="Times New Roman"/>
              </a:rPr>
              <a:t>Q(s_i, a_i) ← Q(s_i, a_i) + α[r_i + γ·max_a Q(s', a) - Q(s_i, a_i)]</a:t>
            </a:r>
          </a:p>
          <a:p>
            <a:pPr>
              <a:spcBef>
                <a:spcPts val="0"/>
              </a:spcBef>
              <a:spcAft>
                <a:spcPts val="100"/>
              </a:spcAft>
            </a:pPr>
            <a:r>
              <a:rPr sz="1000" b="0">
                <a:solidFill>
                  <a:srgbClr val="7F8C8D"/>
                </a:solidFill>
                <a:latin typeface="Consolas"/>
              </a:rPr>
              <a:t>19: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20:      </a:t>
            </a:r>
            <a:r>
              <a:rPr sz="1000" b="0">
                <a:solidFill>
                  <a:srgbClr val="000000"/>
                </a:solidFill>
                <a:latin typeface="Times New Roman"/>
              </a:rPr>
              <a:t>ε ← ε × 0.999  // decay exploration</a:t>
            </a:r>
          </a:p>
          <a:p>
            <a:pPr>
              <a:spcBef>
                <a:spcPts val="0"/>
              </a:spcBef>
              <a:spcAft>
                <a:spcPts val="100"/>
              </a:spcAft>
            </a:pPr>
            <a:r>
              <a:rPr sz="1000" b="0">
                <a:solidFill>
                  <a:srgbClr val="7F8C8D"/>
                </a:solidFill>
                <a:latin typeface="Consolas"/>
              </a:rPr>
              <a:t>21: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22:  </a:t>
            </a:r>
            <a:r>
              <a:rPr sz="1000" b="1">
                <a:solidFill>
                  <a:srgbClr val="000000"/>
                </a:solidFill>
                <a:latin typeface="Times New Roman"/>
              </a:rPr>
              <a:t>return </a:t>
            </a:r>
            <a:r>
              <a:rPr sz="1000" b="0">
                <a:solidFill>
                  <a:srgbClr val="000000"/>
                </a:solidFill>
                <a:latin typeface="Times New Roman"/>
              </a:rPr>
              <a:t>Q</a:t>
            </a:r>
          </a:p>
        </p:txBody>
      </p:sp>
      <p:pic>
        <p:nvPicPr>
          <p:cNvPr id="5" name="Picture 4" descr="image.png"/>
          <p:cNvPicPr>
            <a:picLocks noChangeAspect="1"/>
          </p:cNvPicPr>
          <p:nvPr/>
        </p:nvPicPr>
        <p:blipFill>
          <a:blip r:embed="rId2"/>
          <a:stretch>
            <a:fillRect/>
          </a:stretch>
        </p:blipFill>
        <p:spPr>
          <a:xfrm>
            <a:off x="7772400" y="640080"/>
            <a:ext cx="4114800" cy="906500"/>
          </a:xfrm>
          <a:prstGeom prst="rect">
            <a:avLst/>
          </a:prstGeom>
        </p:spPr>
      </p:pic>
      <p:sp>
        <p:nvSpPr>
          <p:cNvPr id="6" name="TextBox 5"/>
          <p:cNvSpPr txBox="1"/>
          <p:nvPr/>
        </p:nvSpPr>
        <p:spPr>
          <a:xfrm>
            <a:off x="7772400" y="2286000"/>
            <a:ext cx="4114800" cy="2743200"/>
          </a:xfrm>
          <a:prstGeom prst="rect">
            <a:avLst/>
          </a:prstGeom>
          <a:noFill/>
        </p:spPr>
        <p:txBody>
          <a:bodyPr wrap="square">
            <a:spAutoFit/>
          </a:bodyPr>
          <a:lstStyle/>
          <a:p>
            <a:pPr>
              <a:spcAft>
                <a:spcPts val="400"/>
              </a:spcAft>
              <a:defRPr sz="1100" b="0">
                <a:solidFill>
                  <a:srgbClr val="000000"/>
                </a:solidFill>
                <a:latin typeface="Calibri"/>
              </a:defRPr>
            </a:pPr>
            <a:r>
              <a:t>•  A tabular Q-learning agent uses DT leaf IDs as discrete states and {ALLOW=0, BLOCK=1} as actions, learning from asymmetric rewards: FN penalty (−3) exceeds FP penalty (−1) to prioritize attack detection.</a:t>
            </a:r>
          </a:p>
          <a:p>
            <a:pPr>
              <a:spcAft>
                <a:spcPts val="400"/>
              </a:spcAft>
              <a:defRPr sz="1100" b="0">
                <a:solidFill>
                  <a:srgbClr val="000000"/>
                </a:solidFill>
                <a:latin typeface="Calibri"/>
              </a:defRPr>
            </a:pPr>
            <a:r>
              <a:t>•  Every proposed action is verified against the Z3 constraint set—if unsafe (unsat), the safety shield overrides it with the alternative action.</a:t>
            </a:r>
          </a:p>
          <a:p>
            <a:pPr>
              <a:spcAft>
                <a:spcPts val="400"/>
              </a:spcAft>
              <a:defRPr sz="1100" b="0">
                <a:solidFill>
                  <a:srgbClr val="000000"/>
                </a:solidFill>
                <a:latin typeface="Calibri"/>
              </a:defRPr>
            </a:pPr>
            <a:r>
              <a:t>•  Epsilon-greedy exploration (ε=0.20, decay=0.999) balances discovery with exploitation; a +0.5 shield bonus incentivizes Z3-consistent behavior.</a:t>
            </a:r>
          </a:p>
          <a:p>
            <a:pPr>
              <a:spcAft>
                <a:spcPts val="400"/>
              </a:spcAft>
              <a:defRPr sz="1100" b="0">
                <a:solidFill>
                  <a:srgbClr val="000000"/>
                </a:solidFill>
                <a:latin typeface="Calibri"/>
              </a:defRPr>
            </a:pPr>
            <a:r>
              <a:t>•  Sequential bottleneck: Q-table updates within each episode are sequential (shared state), but episodes across datasets run in parallel.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C0392B"/>
                </a:solidFill>
                <a:latin typeface="Calibri"/>
              </a:defRPr>
            </a:pPr>
            <a:r>
              <a:t>Stage 5: DBSCAN Novel Attack Pattern Detection</a:t>
            </a:r>
          </a:p>
        </p:txBody>
      </p:sp>
      <p:sp>
        <p:nvSpPr>
          <p:cNvPr id="3" name="Rectangle 2"/>
          <p:cNvSpPr/>
          <p:nvPr/>
        </p:nvSpPr>
        <p:spPr>
          <a:xfrm>
            <a:off x="274320" y="640080"/>
            <a:ext cx="7132320" cy="484632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4754880"/>
          </a:xfrm>
          <a:prstGeom prst="rect">
            <a:avLst/>
          </a:prstGeom>
          <a:noFill/>
        </p:spPr>
        <p:txBody>
          <a:bodyPr wrap="square">
            <a:spAutoFit/>
          </a:bodyPr>
          <a:lstStyle/>
          <a:p>
            <a:pPr>
              <a:spcAft>
                <a:spcPts val="300"/>
              </a:spcAft>
            </a:pPr>
            <a:r>
              <a:rPr sz="1200" b="1" i="1">
                <a:solidFill>
                  <a:srgbClr val="000000"/>
                </a:solidFill>
                <a:latin typeface="Times New Roman"/>
              </a:rPr>
              <a:t>Algorithm 6: </a:t>
            </a:r>
            <a:r>
              <a:rPr sz="1200" b="1">
                <a:solidFill>
                  <a:srgbClr val="000000"/>
                </a:solidFill>
                <a:latin typeface="Times New Roman"/>
              </a:rPr>
              <a:t>DBSCAN Novel Pattern Detection &amp; Constraint Generation</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Misclassified flows M = {x_i : ŷ_i ≠ y_i}, constraint set C, ε=1.5, minPts=5</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Updated constraint set C' = C ∪ C_novel</a:t>
            </a:r>
          </a:p>
          <a:p>
            <a:pPr>
              <a:spcBef>
                <a:spcPts val="0"/>
              </a:spcBef>
              <a:spcAft>
                <a:spcPts val="100"/>
              </a:spcAft>
            </a:pPr>
            <a:r>
              <a:rPr sz="1000" b="0">
                <a:solidFill>
                  <a:srgbClr val="7F8C8D"/>
                </a:solidFill>
                <a:latin typeface="Consolas"/>
              </a:rPr>
              <a:t> 1:  </a:t>
            </a:r>
            <a:r>
              <a:rPr sz="1000" b="1">
                <a:solidFill>
                  <a:srgbClr val="000000"/>
                </a:solidFill>
                <a:latin typeface="Times New Roman"/>
              </a:rPr>
              <a:t>if </a:t>
            </a:r>
            <a:r>
              <a:rPr sz="1000" b="0">
                <a:solidFill>
                  <a:srgbClr val="000000"/>
                </a:solidFill>
                <a:latin typeface="Times New Roman"/>
              </a:rPr>
              <a:t>|M| &lt; minPts </a:t>
            </a:r>
            <a:r>
              <a:rPr sz="1000" b="1">
                <a:solidFill>
                  <a:srgbClr val="000000"/>
                </a:solidFill>
                <a:latin typeface="Times New Roman"/>
              </a:rPr>
              <a:t>then</a:t>
            </a:r>
            <a:r>
              <a:rPr sz="1000" b="0">
                <a:solidFill>
                  <a:srgbClr val="000000"/>
                </a:solidFill>
                <a:latin typeface="Times New Roman"/>
              </a:rPr>
              <a:t> </a:t>
            </a:r>
            <a:r>
              <a:rPr sz="1000" b="1">
                <a:solidFill>
                  <a:srgbClr val="000000"/>
                </a:solidFill>
                <a:latin typeface="Times New Roman"/>
              </a:rPr>
              <a:t>return </a:t>
            </a:r>
            <a:r>
              <a:rPr sz="1000" b="0">
                <a:solidFill>
                  <a:srgbClr val="000000"/>
                </a:solidFill>
                <a:latin typeface="Times New Roman"/>
              </a:rPr>
              <a:t>C  // insufficient data</a:t>
            </a:r>
          </a:p>
          <a:p>
            <a:pPr>
              <a:spcBef>
                <a:spcPts val="0"/>
              </a:spcBef>
              <a:spcAft>
                <a:spcPts val="100"/>
              </a:spcAft>
            </a:pPr>
            <a:r>
              <a:rPr sz="1000" b="0">
                <a:solidFill>
                  <a:srgbClr val="7F8C8D"/>
                </a:solidFill>
                <a:latin typeface="Consolas"/>
              </a:rPr>
              <a:t> 2:  </a:t>
            </a:r>
            <a:r>
              <a:rPr sz="1000" b="0">
                <a:solidFill>
                  <a:srgbClr val="000000"/>
                </a:solidFill>
                <a:latin typeface="Times New Roman"/>
              </a:rPr>
              <a:t>clusters ← DBSCAN(M, ε=1.5, min_samples=5)</a:t>
            </a:r>
          </a:p>
          <a:p>
            <a:pPr>
              <a:spcBef>
                <a:spcPts val="0"/>
              </a:spcBef>
              <a:spcAft>
                <a:spcPts val="100"/>
              </a:spcAft>
            </a:pPr>
            <a:r>
              <a:rPr sz="1000" b="0">
                <a:solidFill>
                  <a:srgbClr val="7F8C8D"/>
                </a:solidFill>
                <a:latin typeface="Consolas"/>
              </a:rPr>
              <a:t> 3:  </a:t>
            </a:r>
            <a:r>
              <a:rPr sz="1000" b="0">
                <a:solidFill>
                  <a:srgbClr val="000000"/>
                </a:solidFill>
                <a:latin typeface="Times New Roman"/>
              </a:rPr>
              <a:t>C_novel ← ∅</a:t>
            </a:r>
          </a:p>
          <a:p>
            <a:pPr>
              <a:spcBef>
                <a:spcPts val="0"/>
              </a:spcBef>
              <a:spcAft>
                <a:spcPts val="100"/>
              </a:spcAft>
            </a:pPr>
            <a:r>
              <a:rPr sz="1000" b="0">
                <a:solidFill>
                  <a:srgbClr val="7F8C8D"/>
                </a:solidFill>
                <a:latin typeface="Consolas"/>
              </a:rPr>
              <a:t> 4:  </a:t>
            </a:r>
            <a:r>
              <a:rPr sz="1000" b="1">
                <a:solidFill>
                  <a:srgbClr val="000000"/>
                </a:solidFill>
                <a:latin typeface="Times New Roman"/>
              </a:rPr>
              <a:t>for </a:t>
            </a:r>
            <a:r>
              <a:rPr sz="1000" b="0">
                <a:solidFill>
                  <a:srgbClr val="000000"/>
                </a:solidFill>
                <a:latin typeface="Times New Roman"/>
              </a:rPr>
              <a:t>each cluster K_m ∈ clusters (excluding noise) </a:t>
            </a:r>
            <a:r>
              <a:rPr sz="1000" b="1">
                <a:solidFill>
                  <a:srgbClr val="000000"/>
                </a:solidFill>
                <a:latin typeface="Times New Roman"/>
              </a:rPr>
              <a:t>do</a:t>
            </a:r>
          </a:p>
          <a:p>
            <a:pPr>
              <a:spcBef>
                <a:spcPts val="0"/>
              </a:spcBef>
              <a:spcAft>
                <a:spcPts val="100"/>
              </a:spcAft>
            </a:pPr>
            <a:r>
              <a:rPr sz="1000" b="0">
                <a:solidFill>
                  <a:srgbClr val="7F8C8D"/>
                </a:solidFill>
                <a:latin typeface="Consolas"/>
              </a:rPr>
              <a:t> 5:      </a:t>
            </a:r>
            <a:r>
              <a:rPr sz="1000" b="0">
                <a:solidFill>
                  <a:srgbClr val="000000"/>
                </a:solidFill>
                <a:latin typeface="Times New Roman"/>
              </a:rPr>
              <a:t>μ_m ← centroid(K_m)  // mean feature vector</a:t>
            </a:r>
          </a:p>
          <a:p>
            <a:pPr>
              <a:spcBef>
                <a:spcPts val="0"/>
              </a:spcBef>
              <a:spcAft>
                <a:spcPts val="100"/>
              </a:spcAft>
            </a:pPr>
            <a:r>
              <a:rPr sz="1000" b="0">
                <a:solidFill>
                  <a:srgbClr val="7F8C8D"/>
                </a:solidFill>
                <a:latin typeface="Consolas"/>
              </a:rPr>
              <a:t> 6:      </a:t>
            </a:r>
            <a:r>
              <a:rPr sz="1000" b="0">
                <a:solidFill>
                  <a:srgbClr val="000000"/>
                </a:solidFill>
                <a:latin typeface="Times New Roman"/>
              </a:rPr>
              <a:t>σ_m ← std(K_m)  // feature-wise standard deviation</a:t>
            </a:r>
          </a:p>
          <a:p>
            <a:pPr>
              <a:spcBef>
                <a:spcPts val="0"/>
              </a:spcBef>
              <a:spcAft>
                <a:spcPts val="100"/>
              </a:spcAft>
            </a:pPr>
            <a:r>
              <a:rPr sz="1000" b="0">
                <a:solidFill>
                  <a:srgbClr val="7F8C8D"/>
                </a:solidFill>
                <a:latin typeface="Consolas"/>
              </a:rPr>
              <a:t> 7:      </a:t>
            </a:r>
            <a:r>
              <a:rPr sz="1000" b="1">
                <a:solidFill>
                  <a:srgbClr val="000000"/>
                </a:solidFill>
                <a:latin typeface="Times New Roman"/>
              </a:rPr>
              <a:t>for </a:t>
            </a:r>
            <a:r>
              <a:rPr sz="1000" b="0">
                <a:solidFill>
                  <a:srgbClr val="000000"/>
                </a:solidFill>
                <a:latin typeface="Times New Roman"/>
              </a:rPr>
              <a:t>each feature j = 1, ..., 7 </a:t>
            </a:r>
            <a:r>
              <a:rPr sz="1000" b="1">
                <a:solidFill>
                  <a:srgbClr val="000000"/>
                </a:solidFill>
                <a:latin typeface="Times New Roman"/>
              </a:rPr>
              <a:t>do</a:t>
            </a:r>
          </a:p>
          <a:p>
            <a:pPr>
              <a:spcBef>
                <a:spcPts val="0"/>
              </a:spcBef>
              <a:spcAft>
                <a:spcPts val="100"/>
              </a:spcAft>
            </a:pPr>
            <a:r>
              <a:rPr sz="1000" b="0">
                <a:solidFill>
                  <a:srgbClr val="7F8C8D"/>
                </a:solidFill>
                <a:latin typeface="Consolas"/>
              </a:rPr>
              <a:t> 8:          </a:t>
            </a:r>
            <a:r>
              <a:rPr sz="1000" b="0">
                <a:solidFill>
                  <a:srgbClr val="000000"/>
                </a:solidFill>
                <a:latin typeface="Times New Roman"/>
              </a:rPr>
              <a:t>φ_j ← And( Real(f_j) ≥ μ_m[j] - 2σ_m[j],</a:t>
            </a:r>
          </a:p>
          <a:p>
            <a:pPr>
              <a:spcBef>
                <a:spcPts val="0"/>
              </a:spcBef>
              <a:spcAft>
                <a:spcPts val="100"/>
              </a:spcAft>
            </a:pPr>
            <a:r>
              <a:rPr sz="1000" b="0">
                <a:solidFill>
                  <a:srgbClr val="7F8C8D"/>
                </a:solidFill>
                <a:latin typeface="Consolas"/>
              </a:rPr>
              <a:t> 9:          </a:t>
            </a:r>
            <a:r>
              <a:rPr sz="1000" b="0">
                <a:solidFill>
                  <a:srgbClr val="000000"/>
                </a:solidFill>
                <a:latin typeface="Times New Roman"/>
              </a:rPr>
              <a:t>            Real(f_j) ≤ μ_m[j] + 2σ_m[j] )</a:t>
            </a:r>
          </a:p>
          <a:p>
            <a:pPr>
              <a:spcBef>
                <a:spcPts val="0"/>
              </a:spcBef>
              <a:spcAft>
                <a:spcPts val="100"/>
              </a:spcAft>
            </a:pPr>
            <a:r>
              <a:rPr sz="1000" b="0">
                <a:solidFill>
                  <a:srgbClr val="7F8C8D"/>
                </a:solidFill>
                <a:latin typeface="Consolas"/>
              </a:rPr>
              <a:t>10: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11:      </a:t>
            </a:r>
            <a:r>
              <a:rPr sz="1000" b="0">
                <a:solidFill>
                  <a:srgbClr val="000000"/>
                </a:solidFill>
                <a:latin typeface="Times New Roman"/>
              </a:rPr>
              <a:t>φ_novel ← Implies( And(φ_1,...,φ_7), action == majority_class(K_m) )</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solver.check(C ∪ {φ_novel})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C_novel ← C_novel ∪ {φ_novel}</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15: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16:  </a:t>
            </a:r>
            <a:r>
              <a:rPr sz="1000" b="1">
                <a:solidFill>
                  <a:srgbClr val="000000"/>
                </a:solidFill>
                <a:latin typeface="Times New Roman"/>
              </a:rPr>
              <a:t>return </a:t>
            </a:r>
            <a:r>
              <a:rPr sz="1000" b="0">
                <a:solidFill>
                  <a:srgbClr val="000000"/>
                </a:solidFill>
                <a:latin typeface="Times New Roman"/>
              </a:rPr>
              <a:t>C' = C ∪ C_novel</a:t>
            </a:r>
          </a:p>
        </p:txBody>
      </p:sp>
      <p:pic>
        <p:nvPicPr>
          <p:cNvPr id="5" name="Picture 4" descr="image.png"/>
          <p:cNvPicPr>
            <a:picLocks noChangeAspect="1"/>
          </p:cNvPicPr>
          <p:nvPr/>
        </p:nvPicPr>
        <p:blipFill>
          <a:blip r:embed="rId2"/>
          <a:stretch>
            <a:fillRect/>
          </a:stretch>
        </p:blipFill>
        <p:spPr>
          <a:xfrm>
            <a:off x="7589520" y="640080"/>
            <a:ext cx="4114800" cy="1452906"/>
          </a:xfrm>
          <a:prstGeom prst="rect">
            <a:avLst/>
          </a:prstGeom>
        </p:spPr>
      </p:pic>
      <p:sp>
        <p:nvSpPr>
          <p:cNvPr id="6" name="TextBox 5"/>
          <p:cNvSpPr txBox="1"/>
          <p:nvPr/>
        </p:nvSpPr>
        <p:spPr>
          <a:xfrm>
            <a:off x="7589520" y="2560320"/>
            <a:ext cx="4297680" cy="2743200"/>
          </a:xfrm>
          <a:prstGeom prst="rect">
            <a:avLst/>
          </a:prstGeom>
          <a:noFill/>
        </p:spPr>
        <p:txBody>
          <a:bodyPr wrap="square">
            <a:spAutoFit/>
          </a:bodyPr>
          <a:lstStyle/>
          <a:p>
            <a:pPr>
              <a:spcAft>
                <a:spcPts val="400"/>
              </a:spcAft>
              <a:defRPr sz="1100" b="0">
                <a:solidFill>
                  <a:srgbClr val="000000"/>
                </a:solidFill>
                <a:latin typeface="Calibri"/>
              </a:defRPr>
            </a:pPr>
            <a:r>
              <a:t>•  Collects misclassified flows and applies DBSCAN density-based clustering (ε=1.5, minPts=5) to discover previously unseen attack patterns.</a:t>
            </a:r>
          </a:p>
          <a:p>
            <a:pPr>
              <a:spcAft>
                <a:spcPts val="400"/>
              </a:spcAft>
              <a:defRPr sz="1100" b="0">
                <a:solidFill>
                  <a:srgbClr val="000000"/>
                </a:solidFill>
                <a:latin typeface="Calibri"/>
              </a:defRPr>
            </a:pPr>
            <a:r>
              <a:t>•  Each cluster is converted into a Z3 constraint using centroid ± 2σ per feature, then added after satisfiability verification.</a:t>
            </a:r>
          </a:p>
          <a:p>
            <a:pPr>
              <a:spcAft>
                <a:spcPts val="400"/>
              </a:spcAft>
              <a:defRPr sz="1100" b="0">
                <a:solidFill>
                  <a:srgbClr val="000000"/>
                </a:solidFill>
                <a:latin typeface="Calibri"/>
              </a:defRPr>
            </a:pPr>
            <a:r>
              <a:t>•  Noise points (not in any cluster) are discarded—only dense groups generate new constraints, reducing false pattern creation.</a:t>
            </a:r>
          </a:p>
          <a:p>
            <a:pPr>
              <a:spcAft>
                <a:spcPts val="400"/>
              </a:spcAft>
              <a:defRPr sz="1100" b="0">
                <a:solidFill>
                  <a:srgbClr val="000000"/>
                </a:solidFill>
                <a:latin typeface="Calibri"/>
              </a:defRPr>
            </a:pPr>
            <a:r>
              <a:t>•  Enables zero-day detection: novel attacks not seen in training are discovered at runtime and formally incorporated into the safety shield.</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C' = C ∪ C_novel → Feedback loop: updated constraints improve Stage 4 safety shield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980B9"/>
                </a:solidFill>
                <a:latin typeface="Calibri"/>
              </a:defRPr>
            </a:pPr>
            <a:r>
              <a:t>Stage 6: Adaptive Buffer Management</a:t>
            </a:r>
          </a:p>
        </p:txBody>
      </p:sp>
      <p:sp>
        <p:nvSpPr>
          <p:cNvPr id="3" name="Rectangle 2"/>
          <p:cNvSpPr/>
          <p:nvPr/>
        </p:nvSpPr>
        <p:spPr>
          <a:xfrm>
            <a:off x="274320" y="640080"/>
            <a:ext cx="6858000" cy="45720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480560"/>
          </a:xfrm>
          <a:prstGeom prst="rect">
            <a:avLst/>
          </a:prstGeom>
          <a:noFill/>
        </p:spPr>
        <p:txBody>
          <a:bodyPr wrap="square">
            <a:spAutoFit/>
          </a:bodyPr>
          <a:lstStyle/>
          <a:p>
            <a:pPr>
              <a:spcAft>
                <a:spcPts val="300"/>
              </a:spcAft>
            </a:pPr>
            <a:r>
              <a:rPr sz="1200" b="1" i="1">
                <a:solidFill>
                  <a:srgbClr val="000000"/>
                </a:solidFill>
                <a:latin typeface="Times New Roman"/>
              </a:rPr>
              <a:t>Algorithm 7: </a:t>
            </a:r>
            <a:r>
              <a:rPr sz="1200" b="1">
                <a:solidFill>
                  <a:srgbClr val="000000"/>
                </a:solidFill>
                <a:latin typeface="Times New Roman"/>
              </a:rPr>
              <a:t>Adaptive Buffer Resizing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Flow stream F, current buffer B_t with size |B_t|, bounds [10, 200]</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Resized buffer B_{t+1} adapted to traffic volatility</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time win</a:t>
            </a:r>
            <a:r>
              <a:rPr sz="1000" b="1">
                <a:solidFill>
                  <a:srgbClr val="000000"/>
                </a:solidFill>
                <a:latin typeface="Times New Roman"/>
              </a:rPr>
              <a:t>do</a:t>
            </a:r>
            <a:r>
              <a:rPr sz="1000" b="0">
                <a:solidFill>
                  <a:srgbClr val="000000"/>
                </a:solidFill>
                <a:latin typeface="Times New Roman"/>
              </a:rPr>
              <a:t>w W_t of flows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0">
                <a:solidFill>
                  <a:srgbClr val="000000"/>
                </a:solidFill>
                <a:latin typeface="Times New Roman"/>
              </a:rPr>
              <a:t>B_t.append(flows in W_t)  // sliding win</a:t>
            </a:r>
            <a:r>
              <a:rPr sz="1000" b="1">
                <a:solidFill>
                  <a:srgbClr val="000000"/>
                </a:solidFill>
                <a:latin typeface="Times New Roman"/>
              </a:rPr>
              <a:t>do</a:t>
            </a:r>
            <a:r>
              <a:rPr sz="1000" b="0">
                <a:solidFill>
                  <a:srgbClr val="000000"/>
                </a:solidFill>
                <a:latin typeface="Times New Roman"/>
              </a:rPr>
              <a:t>w buffer</a:t>
            </a:r>
          </a:p>
          <a:p>
            <a:pPr>
              <a:spcBef>
                <a:spcPts val="0"/>
              </a:spcBef>
              <a:spcAft>
                <a:spcPts val="100"/>
              </a:spcAft>
            </a:pPr>
            <a:r>
              <a:rPr sz="1000" b="0">
                <a:solidFill>
                  <a:srgbClr val="7F8C8D"/>
                </a:solidFill>
                <a:latin typeface="Consolas"/>
              </a:rPr>
              <a:t> 3:      </a:t>
            </a:r>
            <a:r>
              <a:rPr sz="1000" b="0">
                <a:solidFill>
                  <a:srgbClr val="000000"/>
                </a:solidFill>
                <a:latin typeface="Times New Roman"/>
              </a:rPr>
              <a:t>σ_ent ← std({entropy(x) : x ∈ B_t})  // entropy volatility</a:t>
            </a:r>
          </a:p>
          <a:p>
            <a:pPr>
              <a:spcBef>
                <a:spcPts val="0"/>
              </a:spcBef>
              <a:spcAft>
                <a:spcPts val="100"/>
              </a:spcAft>
            </a:pPr>
            <a:r>
              <a:rPr sz="1000" b="0">
                <a:solidFill>
                  <a:srgbClr val="7F8C8D"/>
                </a:solidFill>
                <a:latin typeface="Consolas"/>
              </a:rPr>
              <a:t> 4:      </a:t>
            </a:r>
            <a:r>
              <a:rPr sz="1000" b="0">
                <a:solidFill>
                  <a:srgbClr val="000000"/>
                </a:solidFill>
                <a:latin typeface="Times New Roman"/>
              </a:rPr>
              <a:t>σ²_bytes ← var({byte_rate(x) : x ∈ B_t})  // byte rate variance</a:t>
            </a:r>
          </a:p>
          <a:p>
            <a:pPr>
              <a:spcBef>
                <a:spcPts val="0"/>
              </a:spcBef>
              <a:spcAft>
                <a:spcPts val="100"/>
              </a:spcAft>
            </a:pPr>
            <a:r>
              <a:rPr sz="1000" b="0">
                <a:solidFill>
                  <a:srgbClr val="7F8C8D"/>
                </a:solidFill>
                <a:latin typeface="Consolas"/>
              </a:rPr>
              <a:t> 5:      </a:t>
            </a:r>
            <a:r>
              <a:rPr sz="1000" b="0">
                <a:solidFill>
                  <a:srgbClr val="000000"/>
                </a:solidFill>
                <a:latin typeface="Times New Roman"/>
              </a:rPr>
              <a:t>volatility ← σ_ent + σ²_bytes / max(σ²_bytes)</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volatility &gt; high_threshold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Δ ← +10  // high volatility: grow buffer </a:t>
            </a:r>
            <a:r>
              <a:rPr sz="1000" b="1">
                <a:solidFill>
                  <a:srgbClr val="000000"/>
                </a:solidFill>
                <a:latin typeface="Times New Roman"/>
              </a:rPr>
              <a:t>for </a:t>
            </a:r>
            <a:r>
              <a:rPr sz="1000" b="0">
                <a:solidFill>
                  <a:srgbClr val="000000"/>
                </a:solidFill>
                <a:latin typeface="Times New Roman"/>
              </a:rPr>
              <a:t>more context</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volatility &lt; low_threshold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9:          </a:t>
            </a:r>
            <a:r>
              <a:rPr sz="1000" b="0">
                <a:solidFill>
                  <a:srgbClr val="000000"/>
                </a:solidFill>
                <a:latin typeface="Times New Roman"/>
              </a:rPr>
              <a:t>Δ ← -5  // low volatility: shrink buffer </a:t>
            </a:r>
            <a:r>
              <a:rPr sz="1000" b="1">
                <a:solidFill>
                  <a:srgbClr val="000000"/>
                </a:solidFill>
                <a:latin typeface="Times New Roman"/>
              </a:rPr>
              <a:t>for </a:t>
            </a:r>
            <a:r>
              <a:rPr sz="1000" b="0">
                <a:solidFill>
                  <a:srgbClr val="000000"/>
                </a:solidFill>
                <a:latin typeface="Times New Roman"/>
              </a:rPr>
              <a:t>faster response</a:t>
            </a:r>
          </a:p>
          <a:p>
            <a:pPr>
              <a:spcBef>
                <a:spcPts val="0"/>
              </a:spcBef>
              <a:spcAft>
                <a:spcPts val="100"/>
              </a:spcAft>
            </a:pPr>
            <a:r>
              <a:rPr sz="1000" b="0">
                <a:solidFill>
                  <a:srgbClr val="7F8C8D"/>
                </a:solidFill>
                <a:latin typeface="Consolas"/>
              </a:rPr>
              <a:t>10: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11:          </a:t>
            </a:r>
            <a:r>
              <a:rPr sz="1000" b="0">
                <a:solidFill>
                  <a:srgbClr val="000000"/>
                </a:solidFill>
                <a:latin typeface="Times New Roman"/>
              </a:rPr>
              <a:t>Δ ← 0  // stable: maintain current size</a:t>
            </a:r>
          </a:p>
          <a:p>
            <a:pPr>
              <a:spcBef>
                <a:spcPts val="0"/>
              </a:spcBef>
              <a:spcAft>
                <a:spcPts val="100"/>
              </a:spcAft>
            </a:pPr>
            <a:r>
              <a:rPr sz="1000" b="0">
                <a:solidFill>
                  <a:srgbClr val="7F8C8D"/>
                </a:solidFill>
                <a:latin typeface="Consolas"/>
              </a:rPr>
              <a:t>12: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13:      </a:t>
            </a:r>
            <a:r>
              <a:rPr sz="1000" b="0">
                <a:solidFill>
                  <a:srgbClr val="000000"/>
                </a:solidFill>
                <a:latin typeface="Times New Roman"/>
              </a:rPr>
              <a:t>|B_{t+1}| ← clip(|B_t| + Δ, 10, 200)</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B_{t+1}</a:t>
            </a:r>
          </a:p>
        </p:txBody>
      </p:sp>
      <p:pic>
        <p:nvPicPr>
          <p:cNvPr id="5" name="Picture 4" descr="image.png"/>
          <p:cNvPicPr>
            <a:picLocks noChangeAspect="1"/>
          </p:cNvPicPr>
          <p:nvPr/>
        </p:nvPicPr>
        <p:blipFill>
          <a:blip r:embed="rId2"/>
          <a:stretch>
            <a:fillRect/>
          </a:stretch>
        </p:blipFill>
        <p:spPr>
          <a:xfrm>
            <a:off x="7498079" y="640080"/>
            <a:ext cx="4114800" cy="1968447"/>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Dynamically resizes the flow buffer (10–200 flows) based on traffic volatility measured by entropy std and byte rate variance.</a:t>
            </a:r>
          </a:p>
          <a:p>
            <a:pPr>
              <a:spcAft>
                <a:spcPts val="400"/>
              </a:spcAft>
              <a:defRPr sz="1100" b="0">
                <a:solidFill>
                  <a:srgbClr val="000000"/>
                </a:solidFill>
                <a:latin typeface="Calibri"/>
              </a:defRPr>
            </a:pPr>
            <a:r>
              <a:t>•  High volatility triggers buffer growth (+10) to accumulate more context; low volatility triggers shrinkage (−5) for faster response.</a:t>
            </a:r>
          </a:p>
          <a:p>
            <a:pPr>
              <a:spcAft>
                <a:spcPts val="400"/>
              </a:spcAft>
              <a:defRPr sz="1100" b="0">
                <a:solidFill>
                  <a:srgbClr val="000000"/>
                </a:solidFill>
                <a:latin typeface="Calibri"/>
              </a:defRPr>
            </a:pPr>
            <a:r>
              <a:t>•  Sequential stage: buffer state depends on previous window (temporal dependency), so this cannot be parallelized within a single stream.</a:t>
            </a:r>
          </a:p>
          <a:p>
            <a:pPr>
              <a:spcAft>
                <a:spcPts val="400"/>
              </a:spcAft>
              <a:defRPr sz="1100" b="0">
                <a:solidFill>
                  <a:srgbClr val="000000"/>
                </a:solidFill>
                <a:latin typeface="Calibri"/>
              </a:defRPr>
            </a:pPr>
            <a:r>
              <a:t>•  Asymmetric growth/shrink rates (+10/−5) create a conservative bias—the system is quicker to accumulate evidence than to discard it.</a:t>
            </a:r>
          </a:p>
        </p:txBody>
      </p:sp>
      <p:sp>
        <p:nvSpPr>
          <p:cNvPr id="7" name="TextBox 6"/>
          <p:cNvSpPr txBox="1"/>
          <p:nvPr/>
        </p:nvSpPr>
        <p:spPr>
          <a:xfrm>
            <a:off x="274320" y="5486400"/>
            <a:ext cx="11430000" cy="365760"/>
          </a:xfrm>
          <a:prstGeom prst="rect">
            <a:avLst/>
          </a:prstGeom>
          <a:noFill/>
        </p:spPr>
        <p:txBody>
          <a:bodyPr wrap="square">
            <a:spAutoFit/>
          </a:bodyPr>
          <a:lstStyle/>
          <a:p>
            <a:pPr algn="ctr">
              <a:defRPr sz="1300" b="1">
                <a:solidFill>
                  <a:srgbClr val="2980B9"/>
                </a:solidFill>
                <a:latin typeface="Calibri"/>
              </a:defRPr>
            </a:pPr>
            <a:r>
              <a:t>Output: Adapted buffer size |B_{t+1}| → Used by Stage 7 and Stage 8 for windowed classification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16A085"/>
                </a:solidFill>
                <a:latin typeface="Calibri"/>
              </a:defRPr>
            </a:pPr>
            <a:r>
              <a:t>Stage 7: Dynamic Threshold Adaptation</a:t>
            </a:r>
          </a:p>
        </p:txBody>
      </p:sp>
      <p:sp>
        <p:nvSpPr>
          <p:cNvPr id="3" name="Rectangle 2"/>
          <p:cNvSpPr/>
          <p:nvPr/>
        </p:nvSpPr>
        <p:spPr>
          <a:xfrm>
            <a:off x="274320" y="640080"/>
            <a:ext cx="6858000" cy="45720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583680" cy="4480560"/>
          </a:xfrm>
          <a:prstGeom prst="rect">
            <a:avLst/>
          </a:prstGeom>
          <a:noFill/>
        </p:spPr>
        <p:txBody>
          <a:bodyPr wrap="square">
            <a:spAutoFit/>
          </a:bodyPr>
          <a:lstStyle/>
          <a:p>
            <a:pPr>
              <a:spcAft>
                <a:spcPts val="300"/>
              </a:spcAft>
            </a:pPr>
            <a:r>
              <a:rPr sz="1200" b="1" i="1">
                <a:solidFill>
                  <a:srgbClr val="000000"/>
                </a:solidFill>
                <a:latin typeface="Times New Roman"/>
              </a:rPr>
              <a:t>Algorithm 8: </a:t>
            </a:r>
            <a:r>
              <a:rPr sz="1200" b="1">
                <a:solidFill>
                  <a:srgbClr val="000000"/>
                </a:solidFill>
                <a:latin typeface="Times New Roman"/>
              </a:rPr>
              <a:t>Dynamic Threshold Adaptation via EMA Error Balancing</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Current threshold τ_t ∈ [0.40, 0.70], recent FPR_t, FNR_t, EMA decay β=0.3</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Updated threshold τ_{t+1} balancing false positives and false negatives</a:t>
            </a:r>
          </a:p>
          <a:p>
            <a:pPr>
              <a:spcBef>
                <a:spcPts val="0"/>
              </a:spcBef>
              <a:spcAft>
                <a:spcPts val="100"/>
              </a:spcAft>
            </a:pPr>
            <a:r>
              <a:rPr sz="1000" b="0">
                <a:solidFill>
                  <a:srgbClr val="7F8C8D"/>
                </a:solidFill>
                <a:latin typeface="Consolas"/>
              </a:rPr>
              <a:t> 1:  </a:t>
            </a:r>
            <a:r>
              <a:rPr sz="1000" b="1">
                <a:solidFill>
                  <a:srgbClr val="000000"/>
                </a:solidFill>
                <a:latin typeface="Times New Roman"/>
              </a:rPr>
              <a:t>for </a:t>
            </a:r>
            <a:r>
              <a:rPr sz="1000" b="0">
                <a:solidFill>
                  <a:srgbClr val="000000"/>
                </a:solidFill>
                <a:latin typeface="Times New Roman"/>
              </a:rPr>
              <a:t>each evaluation win</a:t>
            </a:r>
            <a:r>
              <a:rPr sz="1000" b="1">
                <a:solidFill>
                  <a:srgbClr val="000000"/>
                </a:solidFill>
                <a:latin typeface="Times New Roman"/>
              </a:rPr>
              <a:t>do</a:t>
            </a:r>
            <a:r>
              <a:rPr sz="1000" b="0">
                <a:solidFill>
                  <a:srgbClr val="000000"/>
                </a:solidFill>
                <a:latin typeface="Times New Roman"/>
              </a:rPr>
              <a:t>w W_t </a:t>
            </a:r>
            <a:r>
              <a:rPr sz="1000" b="1">
                <a:solidFill>
                  <a:srgbClr val="000000"/>
                </a:solidFill>
                <a:latin typeface="Times New Roman"/>
              </a:rPr>
              <a:t>do</a:t>
            </a:r>
          </a:p>
          <a:p>
            <a:pPr>
              <a:spcBef>
                <a:spcPts val="0"/>
              </a:spcBef>
              <a:spcAft>
                <a:spcPts val="100"/>
              </a:spcAft>
            </a:pPr>
            <a:r>
              <a:rPr sz="1000" b="0">
                <a:solidFill>
                  <a:srgbClr val="7F8C8D"/>
                </a:solidFill>
                <a:latin typeface="Consolas"/>
              </a:rPr>
              <a:t> 2:      </a:t>
            </a:r>
            <a:r>
              <a:rPr sz="1000" b="0">
                <a:solidFill>
                  <a:srgbClr val="000000"/>
                </a:solidFill>
                <a:latin typeface="Times New Roman"/>
              </a:rPr>
              <a:t>FPR_t ← FP_t / (FP_t + TN_t)  // false positive rate</a:t>
            </a:r>
          </a:p>
          <a:p>
            <a:pPr>
              <a:spcBef>
                <a:spcPts val="0"/>
              </a:spcBef>
              <a:spcAft>
                <a:spcPts val="100"/>
              </a:spcAft>
            </a:pPr>
            <a:r>
              <a:rPr sz="1000" b="0">
                <a:solidFill>
                  <a:srgbClr val="7F8C8D"/>
                </a:solidFill>
                <a:latin typeface="Consolas"/>
              </a:rPr>
              <a:t> 3:      </a:t>
            </a:r>
            <a:r>
              <a:rPr sz="1000" b="0">
                <a:solidFill>
                  <a:srgbClr val="000000"/>
                </a:solidFill>
                <a:latin typeface="Times New Roman"/>
              </a:rPr>
              <a:t>FNR_t ← FN_t / (FN_t + TP_t)  // false negative rate</a:t>
            </a:r>
          </a:p>
          <a:p>
            <a:pPr>
              <a:spcBef>
                <a:spcPts val="0"/>
              </a:spcBef>
              <a:spcAft>
                <a:spcPts val="100"/>
              </a:spcAft>
            </a:pPr>
            <a:r>
              <a:rPr sz="1000" b="0">
                <a:solidFill>
                  <a:srgbClr val="7F8C8D"/>
                </a:solidFill>
                <a:latin typeface="Consolas"/>
              </a:rPr>
              <a:t> 4:      </a:t>
            </a:r>
            <a:r>
              <a:rPr sz="1000" b="0">
                <a:solidFill>
                  <a:srgbClr val="000000"/>
                </a:solidFill>
                <a:latin typeface="Times New Roman"/>
              </a:rPr>
              <a:t>EMA_FPR ← β · FPR_t + (1 - β) · EMA_FPR  // exponential moving average</a:t>
            </a:r>
          </a:p>
          <a:p>
            <a:pPr>
              <a:spcBef>
                <a:spcPts val="0"/>
              </a:spcBef>
              <a:spcAft>
                <a:spcPts val="100"/>
              </a:spcAft>
            </a:pPr>
            <a:r>
              <a:rPr sz="1000" b="0">
                <a:solidFill>
                  <a:srgbClr val="7F8C8D"/>
                </a:solidFill>
                <a:latin typeface="Consolas"/>
              </a:rPr>
              <a:t> 5:      </a:t>
            </a:r>
            <a:r>
              <a:rPr sz="1000" b="0">
                <a:solidFill>
                  <a:srgbClr val="000000"/>
                </a:solidFill>
                <a:latin typeface="Times New Roman"/>
              </a:rPr>
              <a:t>EMA_FNR ← β · FNR_t + (1 - β) · EMA_FNR</a:t>
            </a:r>
          </a:p>
          <a:p>
            <a:pPr>
              <a:spcBef>
                <a:spcPts val="0"/>
              </a:spcBef>
              <a:spcAft>
                <a:spcPts val="100"/>
              </a:spcAft>
            </a:pPr>
            <a:r>
              <a:rPr sz="1000" b="0">
                <a:solidFill>
                  <a:srgbClr val="7F8C8D"/>
                </a:solidFill>
                <a:latin typeface="Consolas"/>
              </a:rPr>
              <a:t> 6:      </a:t>
            </a:r>
            <a:r>
              <a:rPr sz="1000" b="1">
                <a:solidFill>
                  <a:srgbClr val="000000"/>
                </a:solidFill>
                <a:latin typeface="Times New Roman"/>
              </a:rPr>
              <a:t>if </a:t>
            </a:r>
            <a:r>
              <a:rPr sz="1000" b="0">
                <a:solidFill>
                  <a:srgbClr val="000000"/>
                </a:solidFill>
                <a:latin typeface="Times New Roman"/>
              </a:rPr>
              <a:t>EMA_FPR &gt; EMA_FNR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7:          </a:t>
            </a:r>
            <a:r>
              <a:rPr sz="1000" b="0">
                <a:solidFill>
                  <a:srgbClr val="000000"/>
                </a:solidFill>
                <a:latin typeface="Times New Roman"/>
              </a:rPr>
              <a:t>τ_{t+1} ← τ_t + 0.005  // too many false positives: raise threshold</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EMA_FNR &gt; EMA_FPR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9:          </a:t>
            </a:r>
            <a:r>
              <a:rPr sz="1000" b="0">
                <a:solidFill>
                  <a:srgbClr val="000000"/>
                </a:solidFill>
                <a:latin typeface="Times New Roman"/>
              </a:rPr>
              <a:t>τ_{t+1} ← τ_t - 0.005  // too many false negatives: lower threshold</a:t>
            </a:r>
          </a:p>
          <a:p>
            <a:pPr>
              <a:spcBef>
                <a:spcPts val="0"/>
              </a:spcBef>
              <a:spcAft>
                <a:spcPts val="100"/>
              </a:spcAft>
            </a:pPr>
            <a:r>
              <a:rPr sz="1000" b="0">
                <a:solidFill>
                  <a:srgbClr val="7F8C8D"/>
                </a:solidFill>
                <a:latin typeface="Consolas"/>
              </a:rPr>
              <a:t>10: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11:          </a:t>
            </a:r>
            <a:r>
              <a:rPr sz="1000" b="0">
                <a:solidFill>
                  <a:srgbClr val="000000"/>
                </a:solidFill>
                <a:latin typeface="Times New Roman"/>
              </a:rPr>
              <a:t>τ_{t+1} ← τ_t  // balanced: maintain threshold</a:t>
            </a:r>
          </a:p>
          <a:p>
            <a:pPr>
              <a:spcBef>
                <a:spcPts val="0"/>
              </a:spcBef>
              <a:spcAft>
                <a:spcPts val="100"/>
              </a:spcAft>
            </a:pPr>
            <a:r>
              <a:rPr sz="1000" b="0">
                <a:solidFill>
                  <a:srgbClr val="7F8C8D"/>
                </a:solidFill>
                <a:latin typeface="Consolas"/>
              </a:rPr>
              <a:t>12: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13:      </a:t>
            </a:r>
            <a:r>
              <a:rPr sz="1000" b="0">
                <a:solidFill>
                  <a:srgbClr val="000000"/>
                </a:solidFill>
                <a:latin typeface="Times New Roman"/>
              </a:rPr>
              <a:t>τ_{t+1} ← clip(τ_{t+1}, 0.40, 0.70)</a:t>
            </a:r>
          </a:p>
          <a:p>
            <a:pPr>
              <a:spcBef>
                <a:spcPts val="0"/>
              </a:spcBef>
              <a:spcAft>
                <a:spcPts val="100"/>
              </a:spcAft>
            </a:pPr>
            <a:r>
              <a:rPr sz="1000" b="0">
                <a:solidFill>
                  <a:srgbClr val="7F8C8D"/>
                </a:solidFill>
                <a:latin typeface="Consolas"/>
              </a:rPr>
              <a:t>14:  </a:t>
            </a:r>
            <a:r>
              <a:rPr sz="1000" b="1">
                <a:solidFill>
                  <a:srgbClr val="000000"/>
                </a:solidFill>
                <a:latin typeface="Times New Roman"/>
              </a:rPr>
              <a:t>end for</a:t>
            </a:r>
          </a:p>
          <a:p>
            <a:pPr>
              <a:spcBef>
                <a:spcPts val="0"/>
              </a:spcBef>
              <a:spcAft>
                <a:spcPts val="100"/>
              </a:spcAft>
            </a:pPr>
            <a:r>
              <a:rPr sz="1000" b="0">
                <a:solidFill>
                  <a:srgbClr val="7F8C8D"/>
                </a:solidFill>
                <a:latin typeface="Consolas"/>
              </a:rPr>
              <a:t>15:  </a:t>
            </a:r>
            <a:r>
              <a:rPr sz="1000" b="1">
                <a:solidFill>
                  <a:srgbClr val="000000"/>
                </a:solidFill>
                <a:latin typeface="Times New Roman"/>
              </a:rPr>
              <a:t>return </a:t>
            </a:r>
            <a:r>
              <a:rPr sz="1000" b="0">
                <a:solidFill>
                  <a:srgbClr val="000000"/>
                </a:solidFill>
                <a:latin typeface="Times New Roman"/>
              </a:rPr>
              <a:t>τ_{t+1}</a:t>
            </a:r>
          </a:p>
        </p:txBody>
      </p:sp>
      <p:pic>
        <p:nvPicPr>
          <p:cNvPr id="5" name="Picture 4" descr="image.png"/>
          <p:cNvPicPr>
            <a:picLocks noChangeAspect="1"/>
          </p:cNvPicPr>
          <p:nvPr/>
        </p:nvPicPr>
        <p:blipFill>
          <a:blip r:embed="rId2"/>
          <a:stretch>
            <a:fillRect/>
          </a:stretch>
        </p:blipFill>
        <p:spPr>
          <a:xfrm>
            <a:off x="7498079" y="640080"/>
            <a:ext cx="4114800" cy="1572462"/>
          </a:xfrm>
          <a:prstGeom prst="rect">
            <a:avLst/>
          </a:prstGeom>
        </p:spPr>
      </p:pic>
      <p:sp>
        <p:nvSpPr>
          <p:cNvPr id="6" name="TextBox 5"/>
          <p:cNvSpPr txBox="1"/>
          <p:nvPr/>
        </p:nvSpPr>
        <p:spPr>
          <a:xfrm>
            <a:off x="7498079" y="2743200"/>
            <a:ext cx="4389120" cy="2286000"/>
          </a:xfrm>
          <a:prstGeom prst="rect">
            <a:avLst/>
          </a:prstGeom>
          <a:noFill/>
        </p:spPr>
        <p:txBody>
          <a:bodyPr wrap="square">
            <a:spAutoFit/>
          </a:bodyPr>
          <a:lstStyle/>
          <a:p>
            <a:pPr>
              <a:spcAft>
                <a:spcPts val="400"/>
              </a:spcAft>
              <a:defRPr sz="1100" b="0">
                <a:solidFill>
                  <a:srgbClr val="000000"/>
                </a:solidFill>
                <a:latin typeface="Calibri"/>
              </a:defRPr>
            </a:pPr>
            <a:r>
              <a:t>•  Continuously adjusts τ ∈ [0.40, 0.70] based on the balance between FPR and FNR using exponential moving average (EMA, β=0.3).</a:t>
            </a:r>
          </a:p>
          <a:p>
            <a:pPr>
              <a:spcAft>
                <a:spcPts val="400"/>
              </a:spcAft>
              <a:defRPr sz="1100" b="0">
                <a:solidFill>
                  <a:srgbClr val="000000"/>
                </a:solidFill>
                <a:latin typeface="Calibri"/>
              </a:defRPr>
            </a:pPr>
            <a:r>
              <a:t>•  When FPR dominates, threshold rises to reduce false alarms; when FNR dominates, it falls to catch more attacks—creating a self-correcting feedback loop.</a:t>
            </a:r>
          </a:p>
          <a:p>
            <a:pPr>
              <a:spcAft>
                <a:spcPts val="400"/>
              </a:spcAft>
              <a:defRPr sz="1100" b="0">
                <a:solidFill>
                  <a:srgbClr val="000000"/>
                </a:solidFill>
                <a:latin typeface="Calibri"/>
              </a:defRPr>
            </a:pPr>
            <a:r>
              <a:t>•  Sequential stage: threshold state depends on previous window's EMA values (temporal dependency).</a:t>
            </a:r>
          </a:p>
          <a:p>
            <a:pPr>
              <a:spcAft>
                <a:spcPts val="400"/>
              </a:spcAft>
              <a:defRPr sz="1100" b="0">
                <a:solidFill>
                  <a:srgbClr val="000000"/>
                </a:solidFill>
                <a:latin typeface="Calibri"/>
              </a:defRPr>
            </a:pPr>
            <a:r>
              <a:t>•  Hard bounds [0.40, 0.70] prevent threshold from becoming too permissive or too aggressive.</a:t>
            </a:r>
          </a:p>
        </p:txBody>
      </p:sp>
      <p:sp>
        <p:nvSpPr>
          <p:cNvPr id="7" name="TextBox 6"/>
          <p:cNvSpPr txBox="1"/>
          <p:nvPr/>
        </p:nvSpPr>
        <p:spPr>
          <a:xfrm>
            <a:off x="274320" y="5486400"/>
            <a:ext cx="11430000" cy="365760"/>
          </a:xfrm>
          <a:prstGeom prst="rect">
            <a:avLst/>
          </a:prstGeom>
          <a:noFill/>
        </p:spPr>
        <p:txBody>
          <a:bodyPr wrap="square">
            <a:spAutoFit/>
          </a:bodyPr>
          <a:lstStyle/>
          <a:p>
            <a:pPr algn="ctr">
              <a:defRPr sz="1300" b="1">
                <a:solidFill>
                  <a:srgbClr val="2980B9"/>
                </a:solidFill>
                <a:latin typeface="Calibri"/>
              </a:defRPr>
            </a:pPr>
            <a:r>
              <a:t>Output: τ_{t+1} → Used by Stage 8 for high-confidence direct classification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l">
              <a:defRPr sz="2400" b="1">
                <a:solidFill>
                  <a:srgbClr val="2C3E50"/>
                </a:solidFill>
                <a:latin typeface="Calibri"/>
              </a:defRPr>
            </a:pPr>
            <a:r>
              <a:t>Stage 8: Final Classification Decision  [⚡ Parallelizable per Flow]</a:t>
            </a:r>
          </a:p>
        </p:txBody>
      </p:sp>
      <p:sp>
        <p:nvSpPr>
          <p:cNvPr id="3" name="Rectangle 2"/>
          <p:cNvSpPr/>
          <p:nvPr/>
        </p:nvSpPr>
        <p:spPr>
          <a:xfrm>
            <a:off x="274320" y="640080"/>
            <a:ext cx="7132320" cy="5029200"/>
          </a:xfrm>
          <a:prstGeom prst="rect">
            <a:avLst/>
          </a:prstGeom>
          <a:solidFill>
            <a:srgbClr val="F7F9FB"/>
          </a:solidFill>
          <a:ln w="19050">
            <a:solidFill>
              <a:srgbClr val="3449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85800"/>
            <a:ext cx="6858000" cy="4937760"/>
          </a:xfrm>
          <a:prstGeom prst="rect">
            <a:avLst/>
          </a:prstGeom>
          <a:noFill/>
        </p:spPr>
        <p:txBody>
          <a:bodyPr wrap="square">
            <a:spAutoFit/>
          </a:bodyPr>
          <a:lstStyle/>
          <a:p>
            <a:pPr>
              <a:spcAft>
                <a:spcPts val="300"/>
              </a:spcAft>
            </a:pPr>
            <a:r>
              <a:rPr sz="1200" b="1" i="1">
                <a:solidFill>
                  <a:srgbClr val="000000"/>
                </a:solidFill>
                <a:latin typeface="Times New Roman"/>
              </a:rPr>
              <a:t>Algorithm 9: </a:t>
            </a:r>
            <a:r>
              <a:rPr sz="1200" b="1">
                <a:solidFill>
                  <a:srgbClr val="000000"/>
                </a:solidFill>
                <a:latin typeface="Times New Roman"/>
              </a:rPr>
              <a:t>Final Classification with Tiered Decision Logic</a:t>
            </a:r>
          </a:p>
          <a:p>
            <a:pPr>
              <a:spcBef>
                <a:spcPts val="0"/>
              </a:spcBef>
              <a:spcAft>
                <a:spcPts val="100"/>
              </a:spcAft>
            </a:pPr>
            <a:r>
              <a:rPr sz="1000" b="1">
                <a:solidFill>
                  <a:srgbClr val="000000"/>
                </a:solidFill>
                <a:latin typeface="Times New Roman"/>
              </a:rPr>
              <a:t>Require:</a:t>
            </a:r>
            <a:r>
              <a:rPr sz="1000" b="0">
                <a:solidFill>
                  <a:srgbClr val="000000"/>
                </a:solidFill>
                <a:latin typeface="Times New Roman"/>
              </a:rPr>
              <a:t> Flow x_i, threshold τ, Q-table Q, constraint set C, DT tree T</a:t>
            </a:r>
          </a:p>
          <a:p>
            <a:pPr>
              <a:spcBef>
                <a:spcPts val="0"/>
              </a:spcBef>
              <a:spcAft>
                <a:spcPts val="100"/>
              </a:spcAft>
            </a:pPr>
            <a:r>
              <a:rPr sz="1000" b="1">
                <a:solidFill>
                  <a:srgbClr val="000000"/>
                </a:solidFill>
                <a:latin typeface="Times New Roman"/>
              </a:rPr>
              <a:t>Ensure:</a:t>
            </a:r>
            <a:r>
              <a:rPr sz="1000" b="0">
                <a:solidFill>
                  <a:srgbClr val="000000"/>
                </a:solidFill>
                <a:latin typeface="Times New Roman"/>
              </a:rPr>
              <a:t> Final classification ŷ_i ∈ {0=BENIGN, 1=ATTACK} with audit trail</a:t>
            </a:r>
          </a:p>
          <a:p>
            <a:pPr>
              <a:spcBef>
                <a:spcPts val="0"/>
              </a:spcBef>
              <a:spcAft>
                <a:spcPts val="100"/>
              </a:spcAft>
            </a:pPr>
            <a:r>
              <a:rPr sz="1000" b="0">
                <a:solidFill>
                  <a:srgbClr val="7F8C8D"/>
                </a:solidFill>
                <a:latin typeface="Consolas"/>
              </a:rPr>
              <a:t> 1:  </a:t>
            </a:r>
            <a:r>
              <a:rPr sz="1000" b="0">
                <a:solidFill>
                  <a:srgbClr val="000000"/>
                </a:solidFill>
                <a:latin typeface="Times New Roman"/>
              </a:rPr>
              <a:t>p_i ← P(attack | leaf_id(T, x_i))  // DT leaf probability</a:t>
            </a:r>
          </a:p>
          <a:p>
            <a:pPr>
              <a:spcBef>
                <a:spcPts val="0"/>
              </a:spcBef>
              <a:spcAft>
                <a:spcPts val="100"/>
              </a:spcAft>
            </a:pPr>
            <a:r>
              <a:rPr sz="1000" b="0">
                <a:solidFill>
                  <a:srgbClr val="7F8C8D"/>
                </a:solidFill>
                <a:latin typeface="Consolas"/>
              </a:rPr>
              <a:t> 2:  </a:t>
            </a:r>
            <a:r>
              <a:rPr sz="1000" b="1">
                <a:solidFill>
                  <a:srgbClr val="000000"/>
                </a:solidFill>
                <a:latin typeface="Times New Roman"/>
              </a:rPr>
              <a:t>if </a:t>
            </a:r>
            <a:r>
              <a:rPr sz="1000" b="0">
                <a:solidFill>
                  <a:srgbClr val="000000"/>
                </a:solidFill>
                <a:latin typeface="Times New Roman"/>
              </a:rPr>
              <a:t>p_i ≥ τ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3:      </a:t>
            </a:r>
            <a:r>
              <a:rPr sz="1000" b="0">
                <a:solidFill>
                  <a:srgbClr val="000000"/>
                </a:solidFill>
                <a:latin typeface="Times New Roman"/>
              </a:rPr>
              <a:t>ŷ_i ← 1 (ATTACK)  // high confidence attack</a:t>
            </a:r>
          </a:p>
          <a:p>
            <a:pPr>
              <a:spcBef>
                <a:spcPts val="0"/>
              </a:spcBef>
              <a:spcAft>
                <a:spcPts val="100"/>
              </a:spcAft>
            </a:pPr>
            <a:r>
              <a:rPr sz="1000" b="0">
                <a:solidFill>
                  <a:srgbClr val="7F8C8D"/>
                </a:solidFill>
                <a:latin typeface="Consolas"/>
              </a:rPr>
              <a:t> 4:      </a:t>
            </a:r>
            <a:r>
              <a:rPr sz="1000" b="0">
                <a:solidFill>
                  <a:srgbClr val="000000"/>
                </a:solidFill>
                <a:latin typeface="Times New Roman"/>
              </a:rPr>
              <a:t>confidence ← 'HIGH_ATTACK'</a:t>
            </a:r>
          </a:p>
          <a:p>
            <a:pPr>
              <a:spcBef>
                <a:spcPts val="0"/>
              </a:spcBef>
              <a:spcAft>
                <a:spcPts val="100"/>
              </a:spcAft>
            </a:pPr>
            <a:r>
              <a:rPr sz="1000" b="0">
                <a:solidFill>
                  <a:srgbClr val="7F8C8D"/>
                </a:solidFill>
                <a:latin typeface="Consolas"/>
              </a:rPr>
              <a:t> 5:  </a:t>
            </a:r>
            <a:r>
              <a:rPr sz="1000" b="1">
                <a:solidFill>
                  <a:srgbClr val="000000"/>
                </a:solidFill>
                <a:latin typeface="Times New Roman"/>
              </a:rPr>
              <a:t>else</a:t>
            </a:r>
            <a:r>
              <a:rPr sz="1000" b="0">
                <a:solidFill>
                  <a:srgbClr val="000000"/>
                </a:solidFill>
                <a:latin typeface="Times New Roman"/>
              </a:rPr>
              <a:t> </a:t>
            </a:r>
            <a:r>
              <a:rPr sz="1000" b="1">
                <a:solidFill>
                  <a:srgbClr val="000000"/>
                </a:solidFill>
                <a:latin typeface="Times New Roman"/>
              </a:rPr>
              <a:t>if </a:t>
            </a:r>
            <a:r>
              <a:rPr sz="1000" b="0">
                <a:solidFill>
                  <a:srgbClr val="000000"/>
                </a:solidFill>
                <a:latin typeface="Times New Roman"/>
              </a:rPr>
              <a:t>p_i ≤ 1 - τ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 6:      </a:t>
            </a:r>
            <a:r>
              <a:rPr sz="1000" b="0">
                <a:solidFill>
                  <a:srgbClr val="000000"/>
                </a:solidFill>
                <a:latin typeface="Times New Roman"/>
              </a:rPr>
              <a:t>ŷ_i ← 0 (BENIGN)  // high confidence benign</a:t>
            </a:r>
          </a:p>
          <a:p>
            <a:pPr>
              <a:spcBef>
                <a:spcPts val="0"/>
              </a:spcBef>
              <a:spcAft>
                <a:spcPts val="100"/>
              </a:spcAft>
            </a:pPr>
            <a:r>
              <a:rPr sz="1000" b="0">
                <a:solidFill>
                  <a:srgbClr val="7F8C8D"/>
                </a:solidFill>
                <a:latin typeface="Consolas"/>
              </a:rPr>
              <a:t> 7:      </a:t>
            </a:r>
            <a:r>
              <a:rPr sz="1000" b="0">
                <a:solidFill>
                  <a:srgbClr val="000000"/>
                </a:solidFill>
                <a:latin typeface="Times New Roman"/>
              </a:rPr>
              <a:t>confidence ← 'HIGH_BENIGN'</a:t>
            </a:r>
          </a:p>
          <a:p>
            <a:pPr>
              <a:spcBef>
                <a:spcPts val="0"/>
              </a:spcBef>
              <a:spcAft>
                <a:spcPts val="100"/>
              </a:spcAft>
            </a:pPr>
            <a:r>
              <a:rPr sz="1000" b="0">
                <a:solidFill>
                  <a:srgbClr val="7F8C8D"/>
                </a:solidFill>
                <a:latin typeface="Consolas"/>
              </a:rPr>
              <a:t> 8: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 9:      </a:t>
            </a:r>
            <a:r>
              <a:rPr sz="1000" b="0">
                <a:solidFill>
                  <a:srgbClr val="000000"/>
                </a:solidFill>
                <a:latin typeface="Times New Roman"/>
              </a:rPr>
              <a:t>// Uncertain region: invoke RL + Z3 safety shield</a:t>
            </a:r>
          </a:p>
          <a:p>
            <a:pPr>
              <a:spcBef>
                <a:spcPts val="0"/>
              </a:spcBef>
              <a:spcAft>
                <a:spcPts val="100"/>
              </a:spcAft>
            </a:pPr>
            <a:r>
              <a:rPr sz="1000" b="0">
                <a:solidFill>
                  <a:srgbClr val="7F8C8D"/>
                </a:solidFill>
                <a:latin typeface="Consolas"/>
              </a:rPr>
              <a:t>10:      </a:t>
            </a:r>
            <a:r>
              <a:rPr sz="1000" b="0">
                <a:solidFill>
                  <a:srgbClr val="000000"/>
                </a:solidFill>
                <a:latin typeface="Times New Roman"/>
              </a:rPr>
              <a:t>s_i ← leaf_id(T, x_i)</a:t>
            </a:r>
          </a:p>
          <a:p>
            <a:pPr>
              <a:spcBef>
                <a:spcPts val="0"/>
              </a:spcBef>
              <a:spcAft>
                <a:spcPts val="100"/>
              </a:spcAft>
            </a:pPr>
            <a:r>
              <a:rPr sz="1000" b="0">
                <a:solidFill>
                  <a:srgbClr val="7F8C8D"/>
                </a:solidFill>
                <a:latin typeface="Consolas"/>
              </a:rPr>
              <a:t>11:      </a:t>
            </a:r>
            <a:r>
              <a:rPr sz="1000" b="0">
                <a:solidFill>
                  <a:srgbClr val="000000"/>
                </a:solidFill>
                <a:latin typeface="Times New Roman"/>
              </a:rPr>
              <a:t>a_RL ← argmax_a Q(s_i, a)</a:t>
            </a:r>
          </a:p>
          <a:p>
            <a:pPr>
              <a:spcBef>
                <a:spcPts val="0"/>
              </a:spcBef>
              <a:spcAft>
                <a:spcPts val="100"/>
              </a:spcAft>
            </a:pPr>
            <a:r>
              <a:rPr sz="1000" b="0">
                <a:solidFill>
                  <a:srgbClr val="7F8C8D"/>
                </a:solidFill>
                <a:latin typeface="Consolas"/>
              </a:rPr>
              <a:t>12:      </a:t>
            </a:r>
            <a:r>
              <a:rPr sz="1000" b="1">
                <a:solidFill>
                  <a:srgbClr val="000000"/>
                </a:solidFill>
                <a:latin typeface="Times New Roman"/>
              </a:rPr>
              <a:t>if </a:t>
            </a:r>
            <a:r>
              <a:rPr sz="1000" b="0">
                <a:solidFill>
                  <a:srgbClr val="000000"/>
                </a:solidFill>
                <a:latin typeface="Times New Roman"/>
              </a:rPr>
              <a:t>Z3_verify(C, x_i, a_RL) == sat </a:t>
            </a:r>
            <a:r>
              <a:rPr sz="1000" b="1">
                <a:solidFill>
                  <a:srgbClr val="000000"/>
                </a:solidFill>
                <a:latin typeface="Times New Roman"/>
              </a:rPr>
              <a:t>then</a:t>
            </a:r>
          </a:p>
          <a:p>
            <a:pPr>
              <a:spcBef>
                <a:spcPts val="0"/>
              </a:spcBef>
              <a:spcAft>
                <a:spcPts val="100"/>
              </a:spcAft>
            </a:pPr>
            <a:r>
              <a:rPr sz="1000" b="0">
                <a:solidFill>
                  <a:srgbClr val="7F8C8D"/>
                </a:solidFill>
                <a:latin typeface="Consolas"/>
              </a:rPr>
              <a:t>13:          </a:t>
            </a:r>
            <a:r>
              <a:rPr sz="1000" b="0">
                <a:solidFill>
                  <a:srgbClr val="000000"/>
                </a:solidFill>
                <a:latin typeface="Times New Roman"/>
              </a:rPr>
              <a:t>ŷ_i ← a_RL  // RL action is safe</a:t>
            </a:r>
          </a:p>
          <a:p>
            <a:pPr>
              <a:spcBef>
                <a:spcPts val="0"/>
              </a:spcBef>
              <a:spcAft>
                <a:spcPts val="100"/>
              </a:spcAft>
            </a:pPr>
            <a:r>
              <a:rPr sz="1000" b="0">
                <a:solidFill>
                  <a:srgbClr val="7F8C8D"/>
                </a:solidFill>
                <a:latin typeface="Consolas"/>
              </a:rPr>
              <a:t>14:      </a:t>
            </a:r>
            <a:r>
              <a:rPr sz="1000" b="1">
                <a:solidFill>
                  <a:srgbClr val="000000"/>
                </a:solidFill>
                <a:latin typeface="Times New Roman"/>
              </a:rPr>
              <a:t>else</a:t>
            </a:r>
          </a:p>
          <a:p>
            <a:pPr>
              <a:spcBef>
                <a:spcPts val="0"/>
              </a:spcBef>
              <a:spcAft>
                <a:spcPts val="100"/>
              </a:spcAft>
            </a:pPr>
            <a:r>
              <a:rPr sz="1000" b="0">
                <a:solidFill>
                  <a:srgbClr val="7F8C8D"/>
                </a:solidFill>
                <a:latin typeface="Consolas"/>
              </a:rPr>
              <a:t>15:          </a:t>
            </a:r>
            <a:r>
              <a:rPr sz="1000" b="0">
                <a:solidFill>
                  <a:srgbClr val="000000"/>
                </a:solidFill>
                <a:latin typeface="Times New Roman"/>
              </a:rPr>
              <a:t>ŷ_i ← 1 - a_RL  // safety shield override</a:t>
            </a:r>
          </a:p>
          <a:p>
            <a:pPr>
              <a:spcBef>
                <a:spcPts val="0"/>
              </a:spcBef>
              <a:spcAft>
                <a:spcPts val="100"/>
              </a:spcAft>
            </a:pPr>
            <a:r>
              <a:rPr sz="1000" b="0">
                <a:solidFill>
                  <a:srgbClr val="7F8C8D"/>
                </a:solidFill>
                <a:latin typeface="Consolas"/>
              </a:rPr>
              <a:t>16: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17:      </a:t>
            </a:r>
            <a:r>
              <a:rPr sz="1000" b="0">
                <a:solidFill>
                  <a:srgbClr val="000000"/>
                </a:solidFill>
                <a:latin typeface="Times New Roman"/>
              </a:rPr>
              <a:t>confidence ← 'RL_VERIFIED'</a:t>
            </a:r>
          </a:p>
          <a:p>
            <a:pPr>
              <a:spcBef>
                <a:spcPts val="0"/>
              </a:spcBef>
              <a:spcAft>
                <a:spcPts val="100"/>
              </a:spcAft>
            </a:pPr>
            <a:r>
              <a:rPr sz="1000" b="0">
                <a:solidFill>
                  <a:srgbClr val="7F8C8D"/>
                </a:solidFill>
                <a:latin typeface="Consolas"/>
              </a:rPr>
              <a:t>18:  </a:t>
            </a:r>
            <a:r>
              <a:rPr sz="1000" b="1">
                <a:solidFill>
                  <a:srgbClr val="000000"/>
                </a:solidFill>
                <a:latin typeface="Times New Roman"/>
              </a:rPr>
              <a:t>end if</a:t>
            </a:r>
          </a:p>
          <a:p>
            <a:pPr>
              <a:spcBef>
                <a:spcPts val="0"/>
              </a:spcBef>
              <a:spcAft>
                <a:spcPts val="100"/>
              </a:spcAft>
            </a:pPr>
            <a:r>
              <a:rPr sz="1000" b="0">
                <a:solidFill>
                  <a:srgbClr val="7F8C8D"/>
                </a:solidFill>
                <a:latin typeface="Consolas"/>
              </a:rPr>
              <a:t>19:  </a:t>
            </a:r>
            <a:r>
              <a:rPr sz="1000" b="1">
                <a:solidFill>
                  <a:srgbClr val="000000"/>
                </a:solidFill>
                <a:latin typeface="Times New Roman"/>
              </a:rPr>
              <a:t>return </a:t>
            </a:r>
            <a:r>
              <a:rPr sz="1000" b="0">
                <a:solidFill>
                  <a:srgbClr val="000000"/>
                </a:solidFill>
                <a:latin typeface="Times New Roman"/>
              </a:rPr>
              <a:t>ŷ_i, confidence, audit_trail(p_i, s_i, C)  // ⚡ per-flow parallel</a:t>
            </a:r>
          </a:p>
        </p:txBody>
      </p:sp>
      <p:pic>
        <p:nvPicPr>
          <p:cNvPr id="5" name="Picture 4" descr="image.png"/>
          <p:cNvPicPr>
            <a:picLocks noChangeAspect="1"/>
          </p:cNvPicPr>
          <p:nvPr/>
        </p:nvPicPr>
        <p:blipFill>
          <a:blip r:embed="rId2"/>
          <a:stretch>
            <a:fillRect/>
          </a:stretch>
        </p:blipFill>
        <p:spPr>
          <a:xfrm>
            <a:off x="7589520" y="640080"/>
            <a:ext cx="3657600" cy="1565910"/>
          </a:xfrm>
          <a:prstGeom prst="rect">
            <a:avLst/>
          </a:prstGeom>
        </p:spPr>
      </p:pic>
      <p:sp>
        <p:nvSpPr>
          <p:cNvPr id="6" name="TextBox 5"/>
          <p:cNvSpPr txBox="1"/>
          <p:nvPr/>
        </p:nvSpPr>
        <p:spPr>
          <a:xfrm>
            <a:off x="7589520" y="2560320"/>
            <a:ext cx="4114800" cy="2743200"/>
          </a:xfrm>
          <a:prstGeom prst="rect">
            <a:avLst/>
          </a:prstGeom>
          <a:noFill/>
        </p:spPr>
        <p:txBody>
          <a:bodyPr wrap="square">
            <a:spAutoFit/>
          </a:bodyPr>
          <a:lstStyle/>
          <a:p>
            <a:pPr>
              <a:spcAft>
                <a:spcPts val="400"/>
              </a:spcAft>
              <a:defRPr sz="1100" b="0">
                <a:solidFill>
                  <a:srgbClr val="000000"/>
                </a:solidFill>
                <a:latin typeface="Calibri"/>
              </a:defRPr>
            </a:pPr>
            <a:r>
              <a:t>•  Three-tier logic: high-confidence flows (p ≥ τ or p ≤ 1−τ) classified directly; uncertain flows deferred to RL+Z3 verification.</a:t>
            </a:r>
          </a:p>
          <a:p>
            <a:pPr>
              <a:spcAft>
                <a:spcPts val="400"/>
              </a:spcAft>
              <a:defRPr sz="1100" b="0">
                <a:solidFill>
                  <a:srgbClr val="000000"/>
                </a:solidFill>
                <a:latin typeface="Calibri"/>
              </a:defRPr>
            </a:pPr>
            <a:r>
              <a:t>•  Embarrassingly parallel: each flow's classification is independent—Q-table and constraint set are read-only at inference time.</a:t>
            </a:r>
          </a:p>
          <a:p>
            <a:pPr>
              <a:spcAft>
                <a:spcPts val="400"/>
              </a:spcAft>
              <a:defRPr sz="1100" b="0">
                <a:solidFill>
                  <a:srgbClr val="000000"/>
                </a:solidFill>
                <a:latin typeface="Calibri"/>
              </a:defRPr>
            </a:pPr>
            <a:r>
              <a:t>•  Every classification produces a full audit trail: DT probability, leaf state, Z3 check result, and confidence level for complete explainability.</a:t>
            </a:r>
          </a:p>
          <a:p>
            <a:pPr>
              <a:spcAft>
                <a:spcPts val="400"/>
              </a:spcAft>
              <a:defRPr sz="1100" b="0">
                <a:solidFill>
                  <a:srgbClr val="000000"/>
                </a:solidFill>
                <a:latin typeface="Calibri"/>
              </a:defRPr>
            </a:pPr>
            <a:r>
              <a:t>•  Tiered approach reduces Z3 solver calls (~70% of flows are high-confidence), balancing verification overhead with throughput.</a:t>
            </a:r>
          </a:p>
        </p:txBody>
      </p:sp>
      <p:sp>
        <p:nvSpPr>
          <p:cNvPr id="7" name="TextBox 6"/>
          <p:cNvSpPr txBox="1"/>
          <p:nvPr/>
        </p:nvSpPr>
        <p:spPr>
          <a:xfrm>
            <a:off x="274320" y="5760720"/>
            <a:ext cx="11430000" cy="365760"/>
          </a:xfrm>
          <a:prstGeom prst="rect">
            <a:avLst/>
          </a:prstGeom>
          <a:noFill/>
        </p:spPr>
        <p:txBody>
          <a:bodyPr wrap="square">
            <a:spAutoFit/>
          </a:bodyPr>
          <a:lstStyle/>
          <a:p>
            <a:pPr algn="ctr">
              <a:defRPr sz="1300" b="1">
                <a:solidFill>
                  <a:srgbClr val="2980B9"/>
                </a:solidFill>
                <a:latin typeface="Calibri"/>
              </a:defRPr>
            </a:pPr>
            <a:r>
              <a:t>Output: ŷ_i ∈ {0, 1} with confidence level and full audit trail for every classification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Parallel Processing Architecture Across the ASRRL Pipeline</a:t>
            </a:r>
          </a:p>
        </p:txBody>
      </p:sp>
      <p:sp>
        <p:nvSpPr>
          <p:cNvPr id="3" name="TextBox 2"/>
          <p:cNvSpPr txBox="1"/>
          <p:nvPr/>
        </p:nvSpPr>
        <p:spPr>
          <a:xfrm>
            <a:off x="274320" y="731520"/>
            <a:ext cx="5486400" cy="365760"/>
          </a:xfrm>
          <a:prstGeom prst="rect">
            <a:avLst/>
          </a:prstGeom>
          <a:noFill/>
        </p:spPr>
        <p:txBody>
          <a:bodyPr wrap="square">
            <a:spAutoFit/>
          </a:bodyPr>
          <a:lstStyle/>
          <a:p>
            <a:pPr algn="l">
              <a:defRPr sz="1600" b="1">
                <a:solidFill>
                  <a:srgbClr val="1E8E3E"/>
                </a:solidFill>
                <a:latin typeface="Calibri"/>
              </a:defRPr>
            </a:pPr>
            <a:r>
              <a:t>⚡ Parallelizable Stages (Embarrassingly Parallel)</a:t>
            </a:r>
          </a:p>
        </p:txBody>
      </p:sp>
      <p:sp>
        <p:nvSpPr>
          <p:cNvPr id="4" name="TextBox 3"/>
          <p:cNvSpPr txBox="1"/>
          <p:nvPr/>
        </p:nvSpPr>
        <p:spPr>
          <a:xfrm>
            <a:off x="274320" y="1097280"/>
            <a:ext cx="5669280" cy="5029200"/>
          </a:xfrm>
          <a:prstGeom prst="rect">
            <a:avLst/>
          </a:prstGeom>
          <a:noFill/>
        </p:spPr>
        <p:txBody>
          <a:bodyPr wrap="square">
            <a:spAutoFit/>
          </a:bodyPr>
          <a:lstStyle/>
          <a:p>
            <a:pPr>
              <a:spcAft>
                <a:spcPts val="200"/>
              </a:spcAft>
              <a:defRPr sz="1300" b="1">
                <a:solidFill>
                  <a:srgbClr val="1E8E3E"/>
                </a:solidFill>
                <a:latin typeface="Consolas"/>
              </a:defRPr>
            </a:pPr>
            <a:r>
              <a:t>Stage 0: PCAP Binary Preprocessing</a:t>
            </a:r>
          </a:p>
          <a:p>
            <a:pPr>
              <a:spcAft>
                <a:spcPts val="200"/>
              </a:spcAft>
              <a:defRPr sz="1100" b="0">
                <a:solidFill>
                  <a:srgbClr val="000000"/>
                </a:solidFill>
                <a:latin typeface="Consolas"/>
              </a:defRPr>
            </a:pPr>
            <a:r>
              <a:t>  Granularity: Per PCAP file / per time window</a:t>
            </a:r>
          </a:p>
          <a:p>
            <a:pPr>
              <a:spcAft>
                <a:spcPts val="200"/>
              </a:spcAft>
              <a:defRPr sz="1100" b="0">
                <a:solidFill>
                  <a:srgbClr val="000000"/>
                </a:solidFill>
                <a:latin typeface="Consolas"/>
              </a:defRPr>
            </a:pPr>
            <a:r>
              <a:t>  Strategy: Each capture file processed by independent worker</a:t>
            </a:r>
          </a:p>
          <a:p>
            <a:pPr>
              <a:spcAft>
                <a:spcPts val="200"/>
              </a:spcAft>
              <a:defRPr sz="1100" b="0">
                <a:solidFill>
                  <a:srgbClr val="7F8C8D"/>
                </a:solidFill>
                <a:latin typeface="Consolas"/>
              </a:defRPr>
            </a:pPr>
            <a:r>
              <a:t>  Speedup: ~Nx with N CPU cores (I/O bound)</a:t>
            </a:r>
          </a:p>
          <a:p>
            <a:pPr>
              <a:spcAft>
                <a:spcPts val="200"/>
              </a:spcAft>
              <a:defRPr sz="1100" b="0">
                <a:solidFill>
                  <a:srgbClr val="7F8C8D"/>
                </a:solidFill>
                <a:latin typeface="Consolas"/>
              </a:defRPr>
            </a:pPr>
            <a:r>
              <a:t>  Tool: CICFlowMeter instances or parallel Argus processes</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Stage 3: Z3 Constraint Extraction</a:t>
            </a:r>
          </a:p>
          <a:p>
            <a:pPr>
              <a:spcAft>
                <a:spcPts val="200"/>
              </a:spcAft>
              <a:defRPr sz="1100" b="0">
                <a:solidFill>
                  <a:srgbClr val="000000"/>
                </a:solidFill>
                <a:latin typeface="Consolas"/>
              </a:defRPr>
            </a:pPr>
            <a:r>
              <a:t>  Granularity: Per leaf path (L ≈ 60 independent paths)</a:t>
            </a:r>
          </a:p>
          <a:p>
            <a:pPr>
              <a:spcAft>
                <a:spcPts val="200"/>
              </a:spcAft>
              <a:defRPr sz="1100" b="0">
                <a:solidFill>
                  <a:srgbClr val="000000"/>
                </a:solidFill>
                <a:latin typeface="Consolas"/>
              </a:defRPr>
            </a:pPr>
            <a:r>
              <a:t>  Strategy: Extract each path in parallel; sequential merge + sat check</a:t>
            </a:r>
          </a:p>
          <a:p>
            <a:pPr>
              <a:spcAft>
                <a:spcPts val="200"/>
              </a:spcAft>
              <a:defRPr sz="1100" b="0">
                <a:solidFill>
                  <a:srgbClr val="7F8C8D"/>
                </a:solidFill>
                <a:latin typeface="Consolas"/>
              </a:defRPr>
            </a:pPr>
            <a:r>
              <a:t>  Speedup: ~min(L, N) with N cores</a:t>
            </a:r>
          </a:p>
          <a:p>
            <a:pPr>
              <a:spcAft>
                <a:spcPts val="200"/>
              </a:spcAft>
              <a:defRPr sz="1100" b="0">
                <a:solidFill>
                  <a:srgbClr val="7F8C8D"/>
                </a:solidFill>
                <a:latin typeface="Consolas"/>
              </a:defRPr>
            </a:pPr>
            <a:r>
              <a:t>  Note: Final satisfiability merge is sequential (consistency check)</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Stage 8: Final Classification (Inference)</a:t>
            </a:r>
          </a:p>
          <a:p>
            <a:pPr>
              <a:spcAft>
                <a:spcPts val="200"/>
              </a:spcAft>
              <a:defRPr sz="1100" b="0">
                <a:solidFill>
                  <a:srgbClr val="000000"/>
                </a:solidFill>
                <a:latin typeface="Consolas"/>
              </a:defRPr>
            </a:pPr>
            <a:r>
              <a:t>  Granularity: Per flow (each flow independently classified)</a:t>
            </a:r>
          </a:p>
          <a:p>
            <a:pPr>
              <a:spcAft>
                <a:spcPts val="200"/>
              </a:spcAft>
              <a:defRPr sz="1100" b="0">
                <a:solidFill>
                  <a:srgbClr val="000000"/>
                </a:solidFill>
                <a:latin typeface="Consolas"/>
              </a:defRPr>
            </a:pPr>
            <a:r>
              <a:t>  Strategy: Partition flow stream across N workers; read-only Q-table + C</a:t>
            </a:r>
          </a:p>
          <a:p>
            <a:pPr>
              <a:spcAft>
                <a:spcPts val="200"/>
              </a:spcAft>
              <a:defRPr sz="1100" b="0">
                <a:solidFill>
                  <a:srgbClr val="7F8C8D"/>
                </a:solidFill>
                <a:latin typeface="Consolas"/>
              </a:defRPr>
            </a:pPr>
            <a:r>
              <a:t>  Speedup: ~Nx with N cores (CPU bound per Z3 call)</a:t>
            </a:r>
          </a:p>
          <a:p>
            <a:pPr>
              <a:spcAft>
                <a:spcPts val="200"/>
              </a:spcAft>
              <a:defRPr sz="1100" b="0">
                <a:solidFill>
                  <a:srgbClr val="7F8C8D"/>
                </a:solidFill>
                <a:latin typeface="Consolas"/>
              </a:defRPr>
            </a:pPr>
            <a:r>
              <a:t>  Note: ~70% direct classification (no Z3 call); ~30% invoke solver</a:t>
            </a:r>
          </a:p>
          <a:p>
            <a:pPr>
              <a:spcAft>
                <a:spcPts val="200"/>
              </a:spcAft>
              <a:defRPr sz="400" b="0">
                <a:solidFill>
                  <a:srgbClr val="000000"/>
                </a:solidFill>
                <a:latin typeface="Consolas"/>
              </a:defRPr>
            </a:pPr>
          </a:p>
          <a:p>
            <a:pPr>
              <a:spcAft>
                <a:spcPts val="200"/>
              </a:spcAft>
              <a:defRPr sz="1300" b="1">
                <a:solidFill>
                  <a:srgbClr val="1E8E3E"/>
                </a:solidFill>
                <a:latin typeface="Consolas"/>
              </a:defRPr>
            </a:pPr>
            <a:r>
              <a:t>Cross-Dataset: All 3 datasets processed independently</a:t>
            </a:r>
          </a:p>
          <a:p>
            <a:pPr>
              <a:spcAft>
                <a:spcPts val="200"/>
              </a:spcAft>
              <a:defRPr sz="1100" b="0">
                <a:solidFill>
                  <a:srgbClr val="000000"/>
                </a:solidFill>
                <a:latin typeface="Consolas"/>
              </a:defRPr>
            </a:pPr>
            <a:r>
              <a:t>  Strategy: 3 pipeline instances run in parallel (no shared state)</a:t>
            </a:r>
          </a:p>
          <a:p>
            <a:pPr>
              <a:spcAft>
                <a:spcPts val="200"/>
              </a:spcAft>
              <a:defRPr sz="1100" b="0">
                <a:solidFill>
                  <a:srgbClr val="7F8C8D"/>
                </a:solidFill>
                <a:latin typeface="Consolas"/>
              </a:defRPr>
            </a:pPr>
            <a:r>
              <a:t>  Speedup: 3x wall-clock time reduction</a:t>
            </a:r>
          </a:p>
        </p:txBody>
      </p:sp>
      <p:sp>
        <p:nvSpPr>
          <p:cNvPr id="5" name="TextBox 4"/>
          <p:cNvSpPr txBox="1"/>
          <p:nvPr/>
        </p:nvSpPr>
        <p:spPr>
          <a:xfrm>
            <a:off x="6400800" y="731520"/>
            <a:ext cx="5486400" cy="365760"/>
          </a:xfrm>
          <a:prstGeom prst="rect">
            <a:avLst/>
          </a:prstGeom>
          <a:noFill/>
        </p:spPr>
        <p:txBody>
          <a:bodyPr wrap="square">
            <a:spAutoFit/>
          </a:bodyPr>
          <a:lstStyle/>
          <a:p>
            <a:pPr algn="l">
              <a:defRPr sz="1600" b="1">
                <a:solidFill>
                  <a:srgbClr val="C0392B"/>
                </a:solidFill>
                <a:latin typeface="Calibri"/>
              </a:defRPr>
            </a:pPr>
            <a:r>
              <a:t>⏸ Sequential Bottlenecks</a:t>
            </a:r>
          </a:p>
        </p:txBody>
      </p:sp>
      <p:sp>
        <p:nvSpPr>
          <p:cNvPr id="6" name="TextBox 5"/>
          <p:cNvSpPr txBox="1"/>
          <p:nvPr/>
        </p:nvSpPr>
        <p:spPr>
          <a:xfrm>
            <a:off x="6400800" y="1097280"/>
            <a:ext cx="5486400" cy="5029200"/>
          </a:xfrm>
          <a:prstGeom prst="rect">
            <a:avLst/>
          </a:prstGeom>
          <a:noFill/>
        </p:spPr>
        <p:txBody>
          <a:bodyPr wrap="square">
            <a:spAutoFit/>
          </a:bodyPr>
          <a:lstStyle/>
          <a:p>
            <a:pPr>
              <a:spcAft>
                <a:spcPts val="200"/>
              </a:spcAft>
              <a:defRPr sz="1300" b="1">
                <a:solidFill>
                  <a:srgbClr val="C0392B"/>
                </a:solidFill>
                <a:latin typeface="Consolas"/>
              </a:defRPr>
            </a:pPr>
            <a:r>
              <a:t>Stage 2: Decision Tree Training</a:t>
            </a:r>
          </a:p>
          <a:p>
            <a:pPr>
              <a:spcAft>
                <a:spcPts val="200"/>
              </a:spcAft>
              <a:defRPr sz="1100" b="0">
                <a:solidFill>
                  <a:srgbClr val="000000"/>
                </a:solidFill>
                <a:latin typeface="Consolas"/>
              </a:defRPr>
            </a:pPr>
            <a:r>
              <a:t>  Reason: CART greedy splits are data-dependent</a:t>
            </a:r>
          </a:p>
          <a:p>
            <a:pPr>
              <a:spcAft>
                <a:spcPts val="200"/>
              </a:spcAft>
              <a:defRPr sz="1100" b="0">
                <a:solidFill>
                  <a:srgbClr val="000000"/>
                </a:solidFill>
                <a:latin typeface="Consolas"/>
              </a:defRPr>
            </a:pPr>
            <a:r>
              <a:t>  Each split depends on the partition from</a:t>
            </a:r>
          </a:p>
          <a:p>
            <a:pPr>
              <a:spcAft>
                <a:spcPts val="200"/>
              </a:spcAft>
              <a:defRPr sz="1100" b="0">
                <a:solidFill>
                  <a:srgbClr val="000000"/>
                </a:solidFill>
                <a:latin typeface="Consolas"/>
              </a:defRPr>
            </a:pPr>
            <a:r>
              <a:t>  the previous split (inherently sequential).</a:t>
            </a:r>
          </a:p>
          <a:p>
            <a:pPr>
              <a:spcAft>
                <a:spcPts val="200"/>
              </a:spcAft>
              <a:defRPr sz="1100" b="0">
                <a:solidFill>
                  <a:srgbClr val="7F8C8D"/>
                </a:solidFill>
                <a:latin typeface="Consolas"/>
              </a:defRPr>
            </a:pPr>
            <a:r>
              <a:t>  Impact: Low (tree depth=6, trains in &lt;1 second)</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 4: Q-Learning Training (within episode)</a:t>
            </a:r>
          </a:p>
          <a:p>
            <a:pPr>
              <a:spcAft>
                <a:spcPts val="200"/>
              </a:spcAft>
              <a:defRPr sz="1100" b="0">
                <a:solidFill>
                  <a:srgbClr val="000000"/>
                </a:solidFill>
                <a:latin typeface="Consolas"/>
              </a:defRPr>
            </a:pPr>
            <a:r>
              <a:t>  Reason: Q-table updates are sequential</a:t>
            </a:r>
          </a:p>
          <a:p>
            <a:pPr>
              <a:spcAft>
                <a:spcPts val="200"/>
              </a:spcAft>
              <a:defRPr sz="1100" b="0">
                <a:solidFill>
                  <a:srgbClr val="000000"/>
                </a:solidFill>
                <a:latin typeface="Consolas"/>
              </a:defRPr>
            </a:pPr>
            <a:r>
              <a:t>  (each update depends on current Q-values).</a:t>
            </a:r>
          </a:p>
          <a:p>
            <a:pPr>
              <a:spcAft>
                <a:spcPts val="200"/>
              </a:spcAft>
              <a:defRPr sz="1100" b="0">
                <a:solidFill>
                  <a:srgbClr val="7F8C8D"/>
                </a:solidFill>
                <a:latin typeface="Consolas"/>
              </a:defRPr>
            </a:pPr>
            <a:r>
              <a:t>  Mitigation: Cross-dataset parallelism (3 Q-tables)</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 5: DBSCAN Clustering</a:t>
            </a:r>
          </a:p>
          <a:p>
            <a:pPr>
              <a:spcAft>
                <a:spcPts val="200"/>
              </a:spcAft>
              <a:defRPr sz="1100" b="0">
                <a:solidFill>
                  <a:srgbClr val="000000"/>
                </a:solidFill>
                <a:latin typeface="Consolas"/>
              </a:defRPr>
            </a:pPr>
            <a:r>
              <a:t>  Reason: Core/border/noise classification is</a:t>
            </a:r>
          </a:p>
          <a:p>
            <a:pPr>
              <a:spcAft>
                <a:spcPts val="200"/>
              </a:spcAft>
              <a:defRPr sz="1100" b="0">
                <a:solidFill>
                  <a:srgbClr val="000000"/>
                </a:solidFill>
                <a:latin typeface="Consolas"/>
              </a:defRPr>
            </a:pPr>
            <a:r>
              <a:t>  sequential (neighbor queries depend on prior labels).</a:t>
            </a:r>
          </a:p>
          <a:p>
            <a:pPr>
              <a:spcAft>
                <a:spcPts val="200"/>
              </a:spcAft>
              <a:defRPr sz="1100" b="0">
                <a:solidFill>
                  <a:srgbClr val="7F8C8D"/>
                </a:solidFill>
                <a:latin typeface="Consolas"/>
              </a:defRPr>
            </a:pPr>
            <a:r>
              <a:t>  Impact: Low (runs on small subset: misclassified only)</a:t>
            </a:r>
          </a:p>
          <a:p>
            <a:pPr>
              <a:spcAft>
                <a:spcPts val="200"/>
              </a:spcAft>
              <a:defRPr sz="400" b="0">
                <a:solidFill>
                  <a:srgbClr val="000000"/>
                </a:solidFill>
                <a:latin typeface="Consolas"/>
              </a:defRPr>
            </a:pPr>
          </a:p>
          <a:p>
            <a:pPr>
              <a:spcAft>
                <a:spcPts val="200"/>
              </a:spcAft>
              <a:defRPr sz="1300" b="1">
                <a:solidFill>
                  <a:srgbClr val="C0392B"/>
                </a:solidFill>
                <a:latin typeface="Consolas"/>
              </a:defRPr>
            </a:pPr>
            <a:r>
              <a:t>Stages 6-7: Buffer &amp; Threshold Adaptation</a:t>
            </a:r>
          </a:p>
          <a:p>
            <a:pPr>
              <a:spcAft>
                <a:spcPts val="200"/>
              </a:spcAft>
              <a:defRPr sz="1100" b="0">
                <a:solidFill>
                  <a:srgbClr val="000000"/>
                </a:solidFill>
                <a:latin typeface="Consolas"/>
              </a:defRPr>
            </a:pPr>
            <a:r>
              <a:t>  Reason: Temporal dependency — each window's state</a:t>
            </a:r>
          </a:p>
          <a:p>
            <a:pPr>
              <a:spcAft>
                <a:spcPts val="200"/>
              </a:spcAft>
              <a:defRPr sz="1100" b="0">
                <a:solidFill>
                  <a:srgbClr val="000000"/>
                </a:solidFill>
                <a:latin typeface="Consolas"/>
              </a:defRPr>
            </a:pPr>
            <a:r>
              <a:t>  depends on the previous window's EMA / buffer size.</a:t>
            </a:r>
          </a:p>
          <a:p>
            <a:pPr>
              <a:spcAft>
                <a:spcPts val="200"/>
              </a:spcAft>
              <a:defRPr sz="1100" b="0">
                <a:solidFill>
                  <a:srgbClr val="7F8C8D"/>
                </a:solidFill>
                <a:latin typeface="Consolas"/>
              </a:defRPr>
            </a:pPr>
            <a:r>
              <a:t>  Mitigation: Independent per-stream/per-sensor buffers</a:t>
            </a:r>
          </a:p>
        </p:txBody>
      </p:sp>
      <p:sp>
        <p:nvSpPr>
          <p:cNvPr id="7" name="TextBox 6"/>
          <p:cNvSpPr txBox="1"/>
          <p:nvPr/>
        </p:nvSpPr>
        <p:spPr>
          <a:xfrm>
            <a:off x="274320" y="6217920"/>
            <a:ext cx="11430000" cy="457200"/>
          </a:xfrm>
          <a:prstGeom prst="rect">
            <a:avLst/>
          </a:prstGeom>
          <a:noFill/>
        </p:spPr>
        <p:txBody>
          <a:bodyPr wrap="square">
            <a:spAutoFit/>
          </a:bodyPr>
          <a:lstStyle/>
          <a:p>
            <a:pPr algn="ctr">
              <a:defRPr sz="1200" b="1">
                <a:solidFill>
                  <a:srgbClr val="003C71"/>
                </a:solidFill>
                <a:latin typeface="Calibri"/>
              </a:defRPr>
            </a:pPr>
            <a:r>
              <a:t>Training Phase: Stages 0–5 (mostly sequential except Stage 0 &amp; 3)  |  Inference Phase: Stage 8 (fully parallel per flow)  |  Adaptation: Stages 6–7 (sequential per stream, parallel across 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37160"/>
            <a:ext cx="11430000" cy="457200"/>
          </a:xfrm>
          <a:prstGeom prst="rect">
            <a:avLst/>
          </a:prstGeom>
          <a:noFill/>
        </p:spPr>
        <p:txBody>
          <a:bodyPr wrap="square">
            <a:spAutoFit/>
          </a:bodyPr>
          <a:lstStyle/>
          <a:p>
            <a:pPr algn="ctr">
              <a:defRPr sz="2600" b="1">
                <a:solidFill>
                  <a:srgbClr val="003C71"/>
                </a:solidFill>
                <a:latin typeface="Calibri"/>
              </a:defRPr>
            </a:pPr>
            <a:r>
              <a:t>Experimental Results — ASRRL Dynamic vs. Static Baselines</a:t>
            </a:r>
          </a:p>
        </p:txBody>
      </p:sp>
      <p:sp>
        <p:nvSpPr>
          <p:cNvPr id="3" name="TextBox 2"/>
          <p:cNvSpPr txBox="1"/>
          <p:nvPr/>
        </p:nvSpPr>
        <p:spPr>
          <a:xfrm>
            <a:off x="274320" y="548640"/>
            <a:ext cx="11430000" cy="5943600"/>
          </a:xfrm>
          <a:prstGeom prst="rect">
            <a:avLst/>
          </a:prstGeom>
          <a:noFill/>
        </p:spPr>
        <p:txBody>
          <a:bodyPr wrap="square">
            <a:spAutoFit/>
          </a:bodyPr>
          <a:lstStyle/>
          <a:p>
            <a:pPr>
              <a:spcAft>
                <a:spcPts val="200"/>
              </a:spcAft>
              <a:defRPr sz="600" b="0">
                <a:solidFill>
                  <a:srgbClr val="000000"/>
                </a:solidFill>
                <a:latin typeface="Consolas"/>
              </a:defRPr>
            </a:pPr>
          </a:p>
          <a:p>
            <a:pPr>
              <a:spcAft>
                <a:spcPts val="200"/>
              </a:spcAft>
              <a:defRPr sz="1000" b="1">
                <a:solidFill>
                  <a:srgbClr val="003C71"/>
                </a:solidFill>
                <a:latin typeface="Consolas"/>
              </a:defRPr>
            </a:pPr>
            <a:r>
              <a:t>                          ASRRL Dynamic        Random Forest      XGBoost         SVM             KNN</a:t>
            </a:r>
          </a:p>
          <a:p>
            <a:pPr>
              <a:spcAft>
                <a:spcPts val="200"/>
              </a:spcAft>
              <a:defRPr sz="1000" b="0">
                <a:solidFill>
                  <a:srgbClr val="7F8C8D"/>
                </a:solidFill>
                <a:latin typeface="Consolas"/>
              </a:defRPr>
            </a:pPr>
            <a:r>
              <a:t>                          (Buf+Thresh)                                                              </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CSE-CIC-IDS-2018</a:t>
            </a:r>
          </a:p>
          <a:p>
            <a:pPr>
              <a:spcAft>
                <a:spcPts val="200"/>
              </a:spcAft>
              <a:defRPr sz="1000" b="0">
                <a:solidFill>
                  <a:srgbClr val="000000"/>
                </a:solidFill>
                <a:latin typeface="Consolas"/>
              </a:defRPr>
            </a:pPr>
            <a:r>
              <a:t>  F1-Score:               0.9812               0.9956             0.9934          0.9901          0.9799</a:t>
            </a:r>
          </a:p>
          <a:p>
            <a:pPr>
              <a:spcAft>
                <a:spcPts val="200"/>
              </a:spcAft>
              <a:defRPr sz="1000" b="0">
                <a:solidFill>
                  <a:srgbClr val="000000"/>
                </a:solidFill>
                <a:latin typeface="Consolas"/>
              </a:defRPr>
            </a:pPr>
            <a:r>
              <a:t>  Accuracy:               0.9887               0.9973             0.9960          0.9940          0.9880</a:t>
            </a:r>
          </a:p>
          <a:p>
            <a:pPr>
              <a:spcAft>
                <a:spcPts val="200"/>
              </a:spcAft>
              <a:defRPr sz="1000" b="0">
                <a:solidFill>
                  <a:srgbClr val="000000"/>
                </a:solidFill>
                <a:latin typeface="Consolas"/>
              </a:defRPr>
            </a:pPr>
            <a:r>
              <a:t>  FPR:                    0.0048               0.0010             0.0010          0.0010          0.0010</a:t>
            </a:r>
          </a:p>
          <a:p>
            <a:pPr>
              <a:spcAft>
                <a:spcPts val="200"/>
              </a:spcAft>
              <a:defRPr sz="1000" b="0">
                <a:solidFill>
                  <a:srgbClr val="2980B9"/>
                </a:solidFill>
                <a:latin typeface="Consolas"/>
              </a:defRPr>
            </a:pPr>
            <a:r>
              <a:t>  Final Buffer:           30                   N/A                N/A             N/A             N/A</a:t>
            </a:r>
          </a:p>
          <a:p>
            <a:pPr>
              <a:spcAft>
                <a:spcPts val="200"/>
              </a:spcAft>
              <a:defRPr sz="1000" b="0">
                <a:solidFill>
                  <a:srgbClr val="2980B9"/>
                </a:solidFill>
                <a:latin typeface="Consolas"/>
              </a:defRPr>
            </a:pPr>
            <a:r>
              <a:t>  Final Threshold:        0.625                N/A                N/A             N/A             N/A</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UNSW-NB15</a:t>
            </a:r>
          </a:p>
          <a:p>
            <a:pPr>
              <a:spcAft>
                <a:spcPts val="200"/>
              </a:spcAft>
              <a:defRPr sz="1000" b="0">
                <a:solidFill>
                  <a:srgbClr val="000000"/>
                </a:solidFill>
                <a:latin typeface="Consolas"/>
              </a:defRPr>
            </a:pPr>
            <a:r>
              <a:t>  F1-Score:               0.9889               1.0000             0.9967          0.9923          0.9833</a:t>
            </a:r>
          </a:p>
          <a:p>
            <a:pPr>
              <a:spcAft>
                <a:spcPts val="200"/>
              </a:spcAft>
              <a:defRPr sz="1000" b="0">
                <a:solidFill>
                  <a:srgbClr val="000000"/>
                </a:solidFill>
                <a:latin typeface="Consolas"/>
              </a:defRPr>
            </a:pPr>
            <a:r>
              <a:t>  Accuracy:               0.9933               1.0000             0.9980          0.9953          0.9900</a:t>
            </a:r>
          </a:p>
          <a:p>
            <a:pPr>
              <a:spcAft>
                <a:spcPts val="200"/>
              </a:spcAft>
              <a:defRPr sz="1000" b="0">
                <a:solidFill>
                  <a:srgbClr val="000000"/>
                </a:solidFill>
                <a:latin typeface="Consolas"/>
              </a:defRPr>
            </a:pPr>
            <a:r>
              <a:t>  FPR:                    0.0000               0.0000             0.0000          0.0019          0.0000</a:t>
            </a:r>
          </a:p>
          <a:p>
            <a:pPr>
              <a:spcAft>
                <a:spcPts val="200"/>
              </a:spcAft>
              <a:defRPr sz="1000" b="0">
                <a:solidFill>
                  <a:srgbClr val="2980B9"/>
                </a:solidFill>
                <a:latin typeface="Consolas"/>
              </a:defRPr>
            </a:pPr>
            <a:r>
              <a:t>  Final Buffer:           37                   N/A                N/A             N/A             N/A</a:t>
            </a:r>
          </a:p>
          <a:p>
            <a:pPr>
              <a:spcAft>
                <a:spcPts val="200"/>
              </a:spcAft>
              <a:defRPr sz="1000" b="0">
                <a:solidFill>
                  <a:srgbClr val="2980B9"/>
                </a:solidFill>
                <a:latin typeface="Consolas"/>
              </a:defRPr>
            </a:pPr>
            <a:r>
              <a:t>  Final Threshold:        0.650                N/A                N/A             N/A             N/A</a:t>
            </a:r>
          </a:p>
          <a:p>
            <a:pPr>
              <a:spcAft>
                <a:spcPts val="200"/>
              </a:spcAft>
              <a:defRPr sz="400" b="0">
                <a:solidFill>
                  <a:srgbClr val="000000"/>
                </a:solidFill>
                <a:latin typeface="Consolas"/>
              </a:defRPr>
            </a:pPr>
          </a:p>
          <a:p>
            <a:pPr>
              <a:spcAft>
                <a:spcPts val="200"/>
              </a:spcAft>
              <a:defRPr sz="1200" b="1">
                <a:solidFill>
                  <a:srgbClr val="000000"/>
                </a:solidFill>
                <a:latin typeface="Consolas"/>
              </a:defRPr>
            </a:pPr>
            <a:r>
              <a:t>CIC-IDS2017</a:t>
            </a:r>
          </a:p>
          <a:p>
            <a:pPr>
              <a:spcAft>
                <a:spcPts val="200"/>
              </a:spcAft>
              <a:defRPr sz="1000" b="0">
                <a:solidFill>
                  <a:srgbClr val="000000"/>
                </a:solidFill>
                <a:latin typeface="Consolas"/>
              </a:defRPr>
            </a:pPr>
            <a:r>
              <a:t>  F1-Score:               0.9845               0.9978             0.9934          0.9945          0.9822</a:t>
            </a:r>
          </a:p>
          <a:p>
            <a:pPr>
              <a:spcAft>
                <a:spcPts val="200"/>
              </a:spcAft>
              <a:defRPr sz="1000" b="0">
                <a:solidFill>
                  <a:srgbClr val="000000"/>
                </a:solidFill>
                <a:latin typeface="Consolas"/>
              </a:defRPr>
            </a:pPr>
            <a:r>
              <a:t>  Accuracy:               0.9907               0.9987             0.9960          0.9967          0.9893</a:t>
            </a:r>
          </a:p>
          <a:p>
            <a:pPr>
              <a:spcAft>
                <a:spcPts val="200"/>
              </a:spcAft>
              <a:defRPr sz="1000" b="0">
                <a:solidFill>
                  <a:srgbClr val="000000"/>
                </a:solidFill>
                <a:latin typeface="Consolas"/>
              </a:defRPr>
            </a:pPr>
            <a:r>
              <a:t>  FPR:                    0.0019               0.0010             0.0010          0.0010          0.0010</a:t>
            </a:r>
          </a:p>
          <a:p>
            <a:pPr>
              <a:spcAft>
                <a:spcPts val="200"/>
              </a:spcAft>
              <a:defRPr sz="1000" b="0">
                <a:solidFill>
                  <a:srgbClr val="2980B9"/>
                </a:solidFill>
                <a:latin typeface="Consolas"/>
              </a:defRPr>
            </a:pPr>
            <a:r>
              <a:t>  Final Buffer:           32                   N/A                N/A             N/A             N/A</a:t>
            </a:r>
          </a:p>
          <a:p>
            <a:pPr>
              <a:spcAft>
                <a:spcPts val="200"/>
              </a:spcAft>
              <a:defRPr sz="1000" b="0">
                <a:solidFill>
                  <a:srgbClr val="2980B9"/>
                </a:solidFill>
                <a:latin typeface="Consolas"/>
              </a:defRPr>
            </a:pPr>
            <a:r>
              <a:t>  Final Threshold:        0.685                N/A                N/A             N/A             N/A</a:t>
            </a:r>
          </a:p>
          <a:p>
            <a:pPr>
              <a:spcAft>
                <a:spcPts val="200"/>
              </a:spcAft>
              <a:defRPr sz="400" b="0">
                <a:solidFill>
                  <a:srgbClr val="000000"/>
                </a:solidFill>
                <a:latin typeface="Consolas"/>
              </a:defRPr>
            </a:pPr>
          </a:p>
          <a:p>
            <a:pPr>
              <a:spcAft>
                <a:spcPts val="200"/>
              </a:spcAft>
              <a:defRPr sz="1100" b="1">
                <a:solidFill>
                  <a:srgbClr val="1E8E3E"/>
                </a:solidFill>
                <a:latin typeface="Consolas"/>
              </a:defRPr>
            </a:pPr>
            <a:r>
              <a:t>Key Insight: ASRRL achieves competitive F1 (0.98+) while providing formal safety guarantees,</a:t>
            </a:r>
          </a:p>
          <a:p>
            <a:pPr>
              <a:spcAft>
                <a:spcPts val="200"/>
              </a:spcAft>
              <a:defRPr sz="1100" b="1">
                <a:solidFill>
                  <a:srgbClr val="1E8E3E"/>
                </a:solidFill>
                <a:latin typeface="Consolas"/>
              </a:defRPr>
            </a:pPr>
            <a:r>
              <a:t>dynamic adaptation (buffer+threshold), zero-day detection, and parallel inference scalability.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