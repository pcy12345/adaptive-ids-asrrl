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ASRRL — Adaptive Symbolic Reasoning and Reinforcement Learning for Dynamic Network Traffic Classification</a:t>
            </a:r>
          </a:p>
          <a:p/>
          <a:p>
            <a:r>
              <a:t>This presentation details the complete methodology of the ASRRL Intrusion Detection System (IDS) framework. ASRRL is a novel approach that combines multiple machine learning and formal methods techniques into an 8-stage pipeline for network traffic classification.</a:t>
            </a:r>
          </a:p>
          <a:p/>
          <a:p>
            <a:r>
              <a:t>KEY CONTRIBUTIONS:</a:t>
            </a:r>
          </a:p>
          <a:p>
            <a:r>
              <a:t>1. Symbolic Reasoning via Z3 SMT Solver: Decision tree paths are converted into formal logic constraints using the Z3 theorem prover from Microsoft Research. This provides mathematically provable safety guarantees — every classification decision can be traced back to a satisfiable logical constraint.</a:t>
            </a:r>
          </a:p>
          <a:p/>
          <a:p>
            <a:r>
              <a:t>2. Reinforcement Learning with Safety Shielding: A tabular Q-learning agent learns optimal classification policies, but every proposed action is verified against the Z3 constraint set before execution. If the proposed action violates constraints, a "safety shield" overrides it with the best safe alternative.</a:t>
            </a:r>
          </a:p>
          <a:p/>
          <a:p>
            <a:r>
              <a:t>3. Dynamic Adaptation: Unlike static classifiers, ASRRL adapts at runtime through:</a:t>
            </a:r>
          </a:p>
          <a:p>
            <a:r>
              <a:t>   - Adaptive buffer sizing (10-200 flows) that responds to traffic volatility</a:t>
            </a:r>
          </a:p>
          <a:p>
            <a:r>
              <a:t>   - Dynamic threshold adaptation (0.40-0.70) that balances false positive and false negative rates per dataset</a:t>
            </a:r>
          </a:p>
          <a:p/>
          <a:p>
            <a:r>
              <a:t>4. Novel Pattern Detection: DBSCAN clustering on misclassified flows discovers previously unseen attack signatures, which are converted to new Z3 constraints — enabling zero-day attack detection.</a:t>
            </a:r>
          </a:p>
          <a:p/>
          <a:p>
            <a:r>
              <a:t>DATASETS: We evaluate on three well-established IDS benchmark datasets:</a:t>
            </a:r>
          </a:p>
          <a:p>
            <a:r>
              <a:t>- UNSW-NB15 (2015): 2.5M flows, 9 attack types, from UNSW Canberra</a:t>
            </a:r>
          </a:p>
          <a:p>
            <a:r>
              <a:t>- CSE-CIC-IDS-2018 (2018): 16M flows, 7 attack types, from Canadian Institute for Cybersecurity</a:t>
            </a:r>
          </a:p>
          <a:p>
            <a:r>
              <a:t>- CIC-IDS2017 (2017): 3.1M flows, 14 attack types, from Canadian Institute for Cybersecurity</a:t>
            </a:r>
          </a:p>
          <a:p/>
          <a:p>
            <a:r>
              <a:t>Each dataset is processed through the identical 8-stage pipeline, demonstrating the framework's generalizability across different network environments, attack distributions, and temporal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ASRRL Architecture: End-to-End Pipeline Overview</a:t>
            </a:r>
          </a:p>
          <a:p/>
          <a:p>
            <a:r>
              <a:t>This slide presents the complete 8-stage pipeline that every network flow passes through from raw ingestion to final verified classification.</a:t>
            </a:r>
          </a:p>
          <a:p/>
          <a:p>
            <a:r>
              <a:t>PIPELINE FLOW:</a:t>
            </a:r>
          </a:p>
          <a:p>
            <a:r>
              <a:t>The architecture processes data sequentially through 8 components, but with important feedback loops:</a:t>
            </a:r>
          </a:p>
          <a:p>
            <a:r>
              <a:t>- Stage 5 (DBSCAN) feeds novel patterns back to Stage 3 (Z3 constraints), creating an evolving constraint set</a:t>
            </a:r>
          </a:p>
          <a:p>
            <a:r>
              <a:t>- Stage 6 (Buffer) and Stage 7 (Threshold) are runtime adaptation mechanisms that tune the system based on observed traffic patterns</a:t>
            </a:r>
          </a:p>
          <a:p/>
          <a:p>
            <a:r>
              <a:t>WHY 8 STAGES:</a:t>
            </a:r>
          </a:p>
          <a:p>
            <a:r>
              <a:t>Traditional IDS systems use a single classifier that maps features directly to labels. ASRRL decomposes this into 8 stages because:</a:t>
            </a:r>
          </a:p>
          <a:p>
            <a:r>
              <a:t>1. Stages 1-2 (Ingestion + DT): Provide interpretable feature processing and a symbolic model whose decision paths can be formally analyzed</a:t>
            </a:r>
          </a:p>
          <a:p>
            <a:r>
              <a:t>2. Stage 3 (Z3): Converts the DT into formal logic — the key differentiator enabling provable safety</a:t>
            </a:r>
          </a:p>
          <a:p>
            <a:r>
              <a:t>3. Stage 4 (Q-Learning): Learns an adaptive policy that improves over the static DT, while Z3 constrains it to safe actions</a:t>
            </a:r>
          </a:p>
          <a:p>
            <a:r>
              <a:t>4. Stage 5 (DBSCAN): Addresses the open-world problem — new attack types not in training data can be detected</a:t>
            </a:r>
          </a:p>
          <a:p>
            <a:r>
              <a:t>5. Stages 6-7 (Buffer + Threshold): Handle concept drift — network traffic characteristics change over time</a:t>
            </a:r>
          </a:p>
          <a:p>
            <a:r>
              <a:t>6. Stage 8 (Classification): Combines all signals into a final decision with full audit trail</a:t>
            </a:r>
          </a:p>
          <a:p/>
          <a:p>
            <a:r>
              <a:t>THREE DATASETS:</a:t>
            </a:r>
          </a:p>
          <a:p>
            <a:r>
              <a:t>All three datasets pass through the identical pipeline, demonstrating generalizability:</a:t>
            </a:r>
          </a:p>
          <a:p>
            <a:r>
              <a:t>- UNSW-NB15: 2.5M flows, 9 attack types, 30% attack ratio</a:t>
            </a:r>
          </a:p>
          <a:p>
            <a:r>
              <a:t>- CSE-CIC-IDS-2018: 16M flows, 7 attack types, 15% attack ratio</a:t>
            </a:r>
          </a:p>
          <a:p>
            <a:r>
              <a:t>- CIC-IDS2017: 3.1M flows, 14 attack types, 20% attack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Three Benchmark Datasets: Raw Features &amp; Standardized Extraction</a:t>
            </a:r>
          </a:p>
          <a:p/>
          <a:p>
            <a:r>
              <a:t>This slide shows the concrete feature extraction process for each of the three primary datasets. The key challenge is that each dataset has a different raw schema, but ASRRL needs a unified 7-feature representation.</a:t>
            </a:r>
          </a:p>
          <a:p/>
          <a:p>
            <a:r>
              <a:t>UNSW-NB15 (University of New South Wales, 2015):</a:t>
            </a:r>
          </a:p>
          <a:p>
            <a:r>
              <a:t>- Created by the Australian Centre for Cyber Security using the IXIA PerfectStorm tool</a:t>
            </a:r>
          </a:p>
          <a:p>
            <a:r>
              <a:t>- Contains 49 raw features including flow-level (dur, rate, sbytes), connection-level (ct_srv_src), and content-level features</a:t>
            </a:r>
          </a:p>
          <a:p>
            <a:r>
              <a:t>- Feature mapping: 'dur' (seconds) multiplied by 1000 for ms. 'ct_srv_src' serves as entropy proxy</a:t>
            </a:r>
          </a:p>
          <a:p>
            <a:r>
              <a:t>- 9 attack categories with ~30% attack ratio</a:t>
            </a:r>
          </a:p>
          <a:p/>
          <a:p>
            <a:r>
              <a:t>CSE-CIC-IDS-2018 (Canadian Institute for Cybersecurity, 2018):</a:t>
            </a:r>
          </a:p>
          <a:p>
            <a:r>
              <a:t>- Generated using CICFlowMeter on AWS infrastructure with realistic attack scenarios over 10 days</a:t>
            </a:r>
          </a:p>
          <a:p>
            <a:r>
              <a:t>- 80+ features. Flow Duration in microseconds divided by 1000. Fwd IAT Std quantile-normalized for entropy.</a:t>
            </a:r>
          </a:p>
          <a:p>
            <a:r>
              <a:t>- 7 attack categories with ~15% attack ratio</a:t>
            </a:r>
          </a:p>
          <a:p/>
          <a:p>
            <a:r>
              <a:t>CIC-IDS2017 (Canadian Institute for Cybersecurity, 2017):</a:t>
            </a:r>
          </a:p>
          <a:p>
            <a:r>
              <a:t>- Predecessor to CSE-CIC-2018 using same CICFlowMeter tool but different attack scenarios</a:t>
            </a:r>
          </a:p>
          <a:p>
            <a:r>
              <a:t>- Same 80+ feature schema; same preprocessing function handles both CIC datasets</a:t>
            </a:r>
          </a:p>
          <a:p>
            <a:r>
              <a:t>- 14 attack categories with ~20% attack ratio</a:t>
            </a:r>
          </a:p>
          <a:p/>
          <a:p>
            <a:r>
              <a:t>STANDARDIZED OUTPUT: x_i = [flow_duration, pkt_rate, byte_rate, entropy, port_cat, size_cat, protocol]</a:t>
            </a:r>
          </a:p>
          <a:p>
            <a:r>
              <a:t>- First 4 continuous (Z-score normalized), last 3 categorical integers</a:t>
            </a:r>
          </a:p>
          <a:p>
            <a:r>
              <a:t>- Binary label y_i in {0, 1} where 0=benign, 1=attack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Stage 1: Data Ingestion &amp; StandardScaler Normalization</a:t>
            </a:r>
          </a:p>
          <a:p/>
          <a:p>
            <a:r>
              <a:t>PURPOSE: Transform raw, heterogeneous dataset columns into a standardized, normalized feature matrix suitable for machine learning.</a:t>
            </a:r>
          </a:p>
          <a:p/>
          <a:p>
            <a:r>
              <a:t>ALGORITHM DETAILS:</a:t>
            </a:r>
          </a:p>
          <a:p>
            <a:r>
              <a:t>The StandardScaler from scikit-learn performs Z-score normalization independently on each of the 4 continuous features. For each feature j:</a:t>
            </a:r>
          </a:p>
          <a:p>
            <a:r>
              <a:t>- Compute mean: mu_j = (1/n) * sum(x_j^(i)) for i=1..n</a:t>
            </a:r>
          </a:p>
          <a:p>
            <a:r>
              <a:t>- Compute std: sigma_j = sqrt((1/(n-1)) * sum((x_j^(i) - mu_j)^2))</a:t>
            </a:r>
          </a:p>
          <a:p>
            <a:r>
              <a:t>- Transform: z_j^(i) = (x_j^(i) - mu_j) / sigma_j</a:t>
            </a:r>
          </a:p>
          <a:p/>
          <a:p>
            <a:r>
              <a:t>This ensures each feature has zero mean and unit variance, preventing features with larger absolute values (e.g., byte_rate in millions) from dominating the decision tree splits over features with smaller values (e.g., entropy in [0,1]).</a:t>
            </a:r>
          </a:p>
          <a:p/>
          <a:p>
            <a:r>
              <a:t>DATASET-SPECIFIC MAPPINGS:</a:t>
            </a:r>
          </a:p>
          <a:p>
            <a:r>
              <a:t>- UNSW-NB15: dur*1000→flow_duration, rate→pkt_rate, sbytes+dbytes→byte_rate, normalize(ct_srv_src)→entropy</a:t>
            </a:r>
          </a:p>
          <a:p>
            <a:r>
              <a:t>- CSE-CIC-2018/CIC-IDS2017: Flow Duration/1000→flow_duration, Flow Packets/s→pkt_rate, Flow Bytes/s→byte_rate, quantile_norm(Fwd IAT Std)→entropy</a:t>
            </a:r>
          </a:p>
          <a:p/>
          <a:p>
            <a:r>
              <a:t>WHY Z-SCORE NORMALIZATION:</a:t>
            </a:r>
          </a:p>
          <a:p>
            <a:r>
              <a:t>- Decision trees are somewhat robust to feature scaling, but normalized features produce more interpretable Z3 constraints</a:t>
            </a:r>
          </a:p>
          <a:p>
            <a:r>
              <a:t>- Thresholds in Z3 constraints become standard deviation units rather than raw units</a:t>
            </a:r>
          </a:p>
          <a:p>
            <a:r>
              <a:t>- The scaler is fit on training data only to prevent data leakage</a:t>
            </a:r>
          </a:p>
          <a:p>
            <a:r>
              <a:t>- Categorical features (port_cat 0-5, size_cat 0-3, protocol 0-2) passed through unchanged</a:t>
            </a:r>
          </a:p>
          <a:p/>
          <a:p>
            <a:r>
              <a:t>OUTPUT: X_norm (n×7 matrix) and y (n-vector of binary labels) fed to Stage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Stage 2: Decision Tree Symbolic Model (CART)</a:t>
            </a:r>
          </a:p>
          <a:p/>
          <a:p>
            <a:r>
              <a:t>PURPOSE: Train an interpretable decision tree classifier whose internal decision paths can be extracted as formal logic constraints for Z3 verification.</a:t>
            </a:r>
          </a:p>
          <a:p/>
          <a:p>
            <a:r>
              <a:t>WHY DECISION TREE (not Random Forest or Neural Network):</a:t>
            </a:r>
          </a:p>
          <a:p>
            <a:r>
              <a:t>The decision tree is chosen specifically because it is a "white-box" model — every prediction can be explained as a conjunction of feature threshold comparisons along a root-to-leaf path. This is critical because:</a:t>
            </a:r>
          </a:p>
          <a:p>
            <a:r>
              <a:t>1. Each path can be directly translated into a Z3 logical implication (Stage 3)</a:t>
            </a:r>
          </a:p>
          <a:p>
            <a:r>
              <a:t>2. Each leaf node provides a discrete state ID for the Q-learning agent (Stage 4)</a:t>
            </a:r>
          </a:p>
          <a:p>
            <a:r>
              <a:t>3. The shallow depth (max_depth=6) limits the number of constraints, keeping Z3 verification tractable at runtime</a:t>
            </a:r>
          </a:p>
          <a:p/>
          <a:p>
            <a:r>
              <a:t>ALGORITHM — CART:</a:t>
            </a:r>
          </a:p>
          <a:p>
            <a:r>
              <a:t>At each node, the algorithm searches over all 7 features and all possible thresholds to find the split that minimizes the weighted Gini impurity:</a:t>
            </a:r>
          </a:p>
          <a:p>
            <a:r>
              <a:t>- Gini(S) = 1 - p_0^2 - p_1^2</a:t>
            </a:r>
          </a:p>
          <a:p>
            <a:r>
              <a:t>- Pure node: Gini = 0, Maximum impurity: Gini = 0.5</a:t>
            </a:r>
          </a:p>
          <a:p/>
          <a:p>
            <a:r>
              <a:t>HYPERPARAMETERS:</a:t>
            </a:r>
          </a:p>
          <a:p>
            <a:r>
              <a:t>- max_depth=6: Limits tree to 6 levels, producing at most 64 leaf nodes</a:t>
            </a:r>
          </a:p>
          <a:p>
            <a:r>
              <a:t>- min_samples_leaf=15: Prevents overfitting by requiring at least 15 training samples per leaf</a:t>
            </a:r>
          </a:p>
          <a:p/>
          <a:p>
            <a:r>
              <a:t>DUAL OUTPUT:</a:t>
            </a:r>
          </a:p>
          <a:p>
            <a:r>
              <a:t>1. leaf_id(x_i): integer identifying which leaf the flow reaches → becomes state in Q-learning</a:t>
            </a:r>
          </a:p>
          <a:p>
            <a:r>
              <a:t>2. P(attack|x_i): fraction of training attacks in that leaf → drives threshold classification</a:t>
            </a:r>
          </a:p>
          <a:p>
            <a:r>
              <a:t>3. ŷ_DT(x_i): majority class of the leaf → baseline DT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Stage 3: Z3 SMT Constraint Extraction from Decision Tree</a:t>
            </a:r>
          </a:p>
          <a:p/>
          <a:p>
            <a:r>
              <a:t>PURPOSE: Convert the interpretable decision tree into formal logic constraints using Microsoft Research's Z3 theorem prover. This is the key innovation that enables provable safety guarantees.</a:t>
            </a:r>
          </a:p>
          <a:p/>
          <a:p>
            <a:r>
              <a:t>WHAT IS Z3:</a:t>
            </a:r>
          </a:p>
          <a:p>
            <a:r>
              <a:t>Z3 is a Satisfiability Modulo Theories (SMT) solver. Given a set of logical constraints over real/integer variables, it can determine whether any assignment of values satisfies all constraints simultaneously (sat) or no such assignment exists (unsat).</a:t>
            </a:r>
          </a:p>
          <a:p/>
          <a:p>
            <a:r>
              <a:t>ALGORITHM DETAILS:</a:t>
            </a:r>
          </a:p>
          <a:p>
            <a:r>
              <a:t>For each of the L leaf nodes in the decision tree:</a:t>
            </a:r>
          </a:p>
          <a:p>
            <a:r>
              <a:t>1. Extract the path from root to leaf as a sequence of (feature, threshold, direction) triples</a:t>
            </a:r>
          </a:p>
          <a:p>
            <a:r>
              <a:t>2. Convert each split into a Z3 constraint: Real('feature_name') &lt;= threshold or &gt; threshold</a:t>
            </a:r>
          </a:p>
          <a:p>
            <a:r>
              <a:t>3. Combine all splits along the path with And() to form the precondition</a:t>
            </a:r>
          </a:p>
          <a:p>
            <a:r>
              <a:t>4. Create an Implies() constraint: if precondition holds, then action must equal leaf class</a:t>
            </a:r>
          </a:p>
          <a:p>
            <a:r>
              <a:t>5. Check satisfiability with existing constraints before adding (prevents contradictions)</a:t>
            </a:r>
          </a:p>
          <a:p/>
          <a:p>
            <a:r>
              <a:t>CONSTRAINT FORMAT:</a:t>
            </a:r>
          </a:p>
          <a:p>
            <a:r>
              <a:t>φ_l : (f_1 ≤ θ_1) ∧ (f_3 &gt; θ_3) ∧ ... ⇒ (action = class_l)</a:t>
            </a:r>
          </a:p>
          <a:p/>
          <a:p>
            <a:r>
              <a:t>The verify() function used in Stage 4 works by:</a:t>
            </a:r>
          </a:p>
          <a:p>
            <a:r>
              <a:t>1. Substituting the flow's feature values into the Z3 variables</a:t>
            </a:r>
          </a:p>
          <a:p>
            <a:r>
              <a:t>2. Setting action = proposed_action</a:t>
            </a:r>
          </a:p>
          <a:p>
            <a:r>
              <a:t>3. Checking if the resulting system is satisfiable</a:t>
            </a:r>
          </a:p>
          <a:p>
            <a:r>
              <a:t>4. If sat: the action is consistent with learned constraints (safe)</a:t>
            </a:r>
          </a:p>
          <a:p>
            <a:r>
              <a:t>5. If unsat: the action violates constraints (unsafe, must be overridden)</a:t>
            </a:r>
          </a:p>
          <a:p/>
          <a:p>
            <a:r>
              <a:t>This provides a mathematical proof that every classification respects the symbolic model's learned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Stage 4: Q-Learning RL with Z3 Safety Shielding</a:t>
            </a:r>
          </a:p>
          <a:p/>
          <a:p>
            <a:r>
              <a:t>PURPOSE: Learn an adaptive classification policy that improves upon the static decision tree while maintaining provable safety guarantees through Z3 constraint verification.</a:t>
            </a:r>
          </a:p>
          <a:p/>
          <a:p>
            <a:r>
              <a:t>KEY INNOVATION — SAFETY SHIELDING:</a:t>
            </a:r>
          </a:p>
          <a:p>
            <a:r>
              <a:t>The Q-learning agent proposes actions, but every action passes through the Z3 safety shield:</a:t>
            </a:r>
          </a:p>
          <a:p>
            <a:r>
              <a:t>1. Agent proposes action a_proposed (either by exploration or exploitation)</a:t>
            </a:r>
          </a:p>
          <a:p>
            <a:r>
              <a:t>2. Z3 solver checks: given the flow's features and the proposed action, is the constraint set satisfiable?</a:t>
            </a:r>
          </a:p>
          <a:p>
            <a:r>
              <a:t>3. If sat: action is consistent with all learned rules → execute it</a:t>
            </a:r>
          </a:p>
          <a:p>
            <a:r>
              <a:t>4. If unsat: action violates constraints → override with alternative action (1 - a_proposed)</a:t>
            </a:r>
          </a:p>
          <a:p/>
          <a:p>
            <a:r>
              <a:t>This means the RL agent can NEVER make a decision that contradicts the formally verified constraint set.</a:t>
            </a:r>
          </a:p>
          <a:p/>
          <a:p>
            <a:r>
              <a:t>REWARD STRUCTURE:</a:t>
            </a:r>
          </a:p>
          <a:p>
            <a:r>
              <a:t>- True Positive (correctly block attack): +2.0</a:t>
            </a:r>
          </a:p>
          <a:p>
            <a:r>
              <a:t>- True Negative (correctly allow benign): +1.0</a:t>
            </a:r>
          </a:p>
          <a:p>
            <a:r>
              <a:t>- False Positive (incorrectly block benign): -1.0</a:t>
            </a:r>
          </a:p>
          <a:p>
            <a:r>
              <a:t>- False Negative (miss an attack): -3.0</a:t>
            </a:r>
          </a:p>
          <a:p>
            <a:r>
              <a:t>- Shield bonus (action passed Z3 check): +0.5</a:t>
            </a:r>
          </a:p>
          <a:p/>
          <a:p>
            <a:r>
              <a:t>The asymmetric penalties (-3 for FN vs -1 for FP) reflect the IDS priority: missing an attack is worse than a false alarm.</a:t>
            </a:r>
          </a:p>
          <a:p/>
          <a:p>
            <a:r>
              <a:t>HYPERPARAMETERS:</a:t>
            </a:r>
          </a:p>
          <a:p>
            <a:r>
              <a:t>- Learning rate α=0.15: moderate learning speed</a:t>
            </a:r>
          </a:p>
          <a:p>
            <a:r>
              <a:t>- Discount factor γ=0.95: values future rewards highly</a:t>
            </a:r>
          </a:p>
          <a:p>
            <a:r>
              <a:t>- Epsilon start=0.20: 20% random exploration initially</a:t>
            </a:r>
          </a:p>
          <a:p>
            <a:r>
              <a:t>- Epsilon decay=0.999: slow annealing to exploitation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Stage 5: DBSCAN Novel Attack Pattern Detection</a:t>
            </a:r>
          </a:p>
          <a:p/>
          <a:p>
            <a:r>
              <a:t>PURPOSE: Discover previously unseen (zero-day) attack patterns by clustering misclassified flows and converting discovered clusters into new Z3 constraints.</a:t>
            </a:r>
          </a:p>
          <a:p/>
          <a:p>
            <a:r>
              <a:t>WHY DBSCAN:</a:t>
            </a:r>
          </a:p>
          <a:p>
            <a:r>
              <a:t>DBSCAN (Density-Based Spatial Clustering of Applications with Noise) is ideal for this task because:</a:t>
            </a:r>
          </a:p>
          <a:p>
            <a:r>
              <a:t>1. It doesn't require specifying the number of clusters in advance (unlike K-means)</a:t>
            </a:r>
          </a:p>
          <a:p>
            <a:r>
              <a:t>2. It naturally handles noise — isolated misclassifications are labeled as noise, not forced into clusters</a:t>
            </a:r>
          </a:p>
          <a:p>
            <a:r>
              <a:t>3. It finds arbitrarily shaped clusters — attack patterns in feature space may not be spherical</a:t>
            </a:r>
          </a:p>
          <a:p>
            <a:r>
              <a:t>4. Two parameters: ε=1.5 (neighborhood radius) and minPts=5 (minimum cluster size)</a:t>
            </a:r>
          </a:p>
          <a:p/>
          <a:p>
            <a:r>
              <a:t>ALGORITHM:</a:t>
            </a:r>
          </a:p>
          <a:p>
            <a:r>
              <a:t>1. Collect misclassified flows M = {x_i : predicted ≠ actual}</a:t>
            </a:r>
          </a:p>
          <a:p>
            <a:r>
              <a:t>2. Run DBSCAN to find dense clusters in M</a:t>
            </a:r>
          </a:p>
          <a:p>
            <a:r>
              <a:t>3. For each cluster K_m: compute centroid μ_m and std σ_m</a:t>
            </a:r>
          </a:p>
          <a:p>
            <a:r>
              <a:t>4. Create Z3 constraint: if all features within μ ± 2σ, then action = majority class</a:t>
            </a:r>
          </a:p>
          <a:p>
            <a:r>
              <a:t>5. Verify consistency with existing constraints before adding</a:t>
            </a:r>
          </a:p>
          <a:p/>
          <a:p>
            <a:r>
              <a:t>FEEDBACK LOOP:</a:t>
            </a:r>
          </a:p>
          <a:p>
            <a:r>
              <a:t>New constraints C_novel are merged with existing C to form C'. This means:</a:t>
            </a:r>
          </a:p>
          <a:p>
            <a:r>
              <a:t>- Future Q-learning episodes benefit from broader constraint coverage</a:t>
            </a:r>
          </a:p>
          <a:p>
            <a:r>
              <a:t>- The safety shield becomes more comprehensive over time</a:t>
            </a:r>
          </a:p>
          <a:p>
            <a:r>
              <a:t>- Previously unseen attack signatures are now formally recognized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Stage 6: Adaptive Buffer Management</a:t>
            </a:r>
          </a:p>
          <a:p/>
          <a:p>
            <a:r>
              <a:t>PURPOSE: Dynamically adjust the flow buffer size based on real-time traffic characteristics. This is a runtime adaptation mechanism that handles concept drift — the statistical properties of network traffic changing over time.</a:t>
            </a:r>
          </a:p>
          <a:p/>
          <a:p>
            <a:r>
              <a:t>WHY ADAPTIVE BUFFERING:</a:t>
            </a:r>
          </a:p>
          <a:p>
            <a:r>
              <a:t>Static buffer sizes create a fundamental trade-off:</a:t>
            </a:r>
          </a:p>
          <a:p>
            <a:r>
              <a:t>- Small buffers (10-20 flows): Fast response, but insufficient context for accurate decisions in volatile traffic</a:t>
            </a:r>
          </a:p>
          <a:p>
            <a:r>
              <a:t>- Large buffers (100-200 flows): Better context, but increased latency and may include stale data in changing conditions</a:t>
            </a:r>
          </a:p>
          <a:p/>
          <a:p>
            <a:r>
              <a:t>The adaptive buffer resolves this by growing during volatility (need more evidence) and shrinking during stability (prioritize speed).</a:t>
            </a:r>
          </a:p>
          <a:p/>
          <a:p>
            <a:r>
              <a:t>VOLATILITY METRICS:</a:t>
            </a:r>
          </a:p>
          <a:p>
            <a:r>
              <a:t>1. Entropy standard deviation (σ_ent): Measures how much the entropy feature varies within the buffer. High variation suggests a mix of attack and benign traffic.</a:t>
            </a:r>
          </a:p>
          <a:p>
            <a:r>
              <a:t>2. Byte rate variance (σ²_bytes): Measures traffic volume stability. Attack bursts (DoS, DDoS) cause spikes in byte rate.</a:t>
            </a:r>
          </a:p>
          <a:p>
            <a:r>
              <a:t>3. Combined volatility = σ_ent + normalized σ²_bytes</a:t>
            </a:r>
          </a:p>
          <a:p/>
          <a:p>
            <a:r>
              <a:t>RESIZE LOGIC:</a:t>
            </a:r>
          </a:p>
          <a:p>
            <a:r>
              <a:t>- Growth: +10 flows when volatility exceeds high threshold → conservative, accumulates more evidence</a:t>
            </a:r>
          </a:p>
          <a:p>
            <a:r>
              <a:t>- Shrinkage: -5 flows when volatility below low threshold → gentle reduction</a:t>
            </a:r>
          </a:p>
          <a:p>
            <a:r>
              <a:t>- Clipping: Always bounded to [10, 200] to prevent degenerate sizes</a:t>
            </a:r>
          </a:p>
          <a:p>
            <a:r>
              <a:t>- Asymmetry: Grows faster than shrinks (+10 vs -5) creating a cautious bias</a:t>
            </a:r>
          </a:p>
          <a:p/>
          <a:p>
            <a:r>
              <a:t>IMPLEMENTATION: Uses Python deque with dynamic maxlen. When maxlen shrinks, oldest flows are automatically evicted.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Stage 7: Dynamic Threshold Adaptation</a:t>
            </a:r>
          </a:p>
          <a:p/>
          <a:p>
            <a:r>
              <a:t>PURPOSE: Continuously adapt the classification threshold to maintain optimal balance between false positive and false negative rates as traffic patterns evolve.</a:t>
            </a:r>
          </a:p>
          <a:p/>
          <a:p>
            <a:r>
              <a:t>WHY DYNAMIC THRESHOLD:</a:t>
            </a:r>
          </a:p>
          <a:p>
            <a:r>
              <a:t>A static threshold (e.g., 0.5) is suboptimal because:</a:t>
            </a:r>
          </a:p>
          <a:p>
            <a:r>
              <a:t>- Different datasets have different optimal thresholds due to varying attack ratios</a:t>
            </a:r>
          </a:p>
          <a:p>
            <a:r>
              <a:t>- Traffic patterns change over time (concept drift), shifting the optimal operating point</a:t>
            </a:r>
          </a:p>
          <a:p>
            <a:r>
              <a:t>- A threshold that's optimal during training may not be optimal during deployment</a:t>
            </a:r>
          </a:p>
          <a:p/>
          <a:p>
            <a:r>
              <a:t>EMA ERROR BALANCING:</a:t>
            </a:r>
          </a:p>
          <a:p>
            <a:r>
              <a:t>Exponential Moving Average smooths the error signals:</a:t>
            </a:r>
          </a:p>
          <a:p>
            <a:r>
              <a:t>- EMA_FPR = β * FPR_t + (1-β) * EMA_FPR_{t-1}</a:t>
            </a:r>
          </a:p>
          <a:p>
            <a:r>
              <a:t>- EMA_FNR = β * FNR_t + (1-β) * EMA_FNR_{t-1}</a:t>
            </a:r>
          </a:p>
          <a:p>
            <a:r>
              <a:t>- β = 0.3: gives 30% weight to most recent window, 70% to history</a:t>
            </a:r>
          </a:p>
          <a:p/>
          <a:p>
            <a:r>
              <a:t>ADAPTATION LOGIC:</a:t>
            </a:r>
          </a:p>
          <a:p>
            <a:r>
              <a:t>- If EMA_FPR &gt; EMA_FNR: too many false positives → raise threshold → fewer flows classified as attacks</a:t>
            </a:r>
          </a:p>
          <a:p>
            <a:r>
              <a:t>- If EMA_FNR &gt; EMA_FPR: too many missed attacks → lower threshold → more flows classified as attacks</a:t>
            </a:r>
          </a:p>
          <a:p>
            <a:r>
              <a:t>- Step size 0.005: small enough for stable convergence, large enough to adapt within ~100 windows</a:t>
            </a:r>
          </a:p>
          <a:p/>
          <a:p>
            <a:r>
              <a:t>BOUNDS [0.40, 0.70]:</a:t>
            </a:r>
          </a:p>
          <a:p>
            <a:r>
              <a:t>- Lower bound 0.40: prevents overly aggressive detection (would cause &gt;30% FPR)</a:t>
            </a:r>
          </a:p>
          <a:p>
            <a:r>
              <a:t>- Upper bound 0.70: prevents overly permissive detection (would miss &gt;40% of attacks)</a:t>
            </a:r>
          </a:p>
          <a:p/>
          <a:p>
            <a:r>
              <a:t>OBSERVED CONVERGENCE:</a:t>
            </a:r>
          </a:p>
          <a:p>
            <a:r>
              <a:t>- UNSW-NB15: converges to τ ≈ 0.625 (higher attack ratio needs higher threshold)</a:t>
            </a:r>
          </a:p>
          <a:p>
            <a:r>
              <a:t>- CSE-CIC-2018: converges to τ ≈ 0.625</a:t>
            </a:r>
          </a:p>
          <a:p>
            <a:r>
              <a:t>- CIC-IDS2017: converges to τ ≈ 0.685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Stage 8: Final Classification Decision</a:t>
            </a:r>
          </a:p>
          <a:p/>
          <a:p>
            <a:r>
              <a:t>PURPOSE: Combine all previous stages into a final, verified classification decision for each network flow.</a:t>
            </a:r>
          </a:p>
          <a:p/>
          <a:p>
            <a:r>
              <a:t>THREE-TIER DECISION LOGIC:</a:t>
            </a:r>
          </a:p>
          <a:p>
            <a:r>
              <a:t>The classification uses the dynamic threshold τ from Stage 7 to create three confidence zones:</a:t>
            </a:r>
          </a:p>
          <a:p/>
          <a:p>
            <a:r>
              <a:t>Tier 1 — High Confidence Attack (p_i ≥ τ):</a:t>
            </a:r>
          </a:p>
          <a:p>
            <a:r>
              <a:t>- The DT leaf probability exceeds the adaptive threshold</a:t>
            </a:r>
          </a:p>
          <a:p>
            <a:r>
              <a:t>- Classified as ATTACK without invoking RL or Z3</a:t>
            </a:r>
          </a:p>
          <a:p>
            <a:r>
              <a:t>- Fastest path — no solver overhead</a:t>
            </a:r>
          </a:p>
          <a:p>
            <a:r>
              <a:t>- Typically ~50% of flows in attack-heavy periods</a:t>
            </a:r>
          </a:p>
          <a:p/>
          <a:p>
            <a:r>
              <a:t>Tier 2 — High Confidence Benign (p_i ≤ 1-τ):</a:t>
            </a:r>
          </a:p>
          <a:p>
            <a:r>
              <a:t>- The DT leaf probability is below the complementary threshold</a:t>
            </a:r>
          </a:p>
          <a:p>
            <a:r>
              <a:t>- Classified as BENIGN without invoking RL or Z3</a:t>
            </a:r>
          </a:p>
          <a:p>
            <a:r>
              <a:t>- Typically ~20% of flows</a:t>
            </a:r>
          </a:p>
          <a:p/>
          <a:p>
            <a:r>
              <a:t>Tier 3 — Uncertain Region (1-τ &lt; p_i &lt; τ):</a:t>
            </a:r>
          </a:p>
          <a:p>
            <a:r>
              <a:t>- DT is uncertain — this is where ASRRL adds the most value</a:t>
            </a:r>
          </a:p>
          <a:p>
            <a:r>
              <a:t>- The Q-learning agent proposes an action based on learned policy</a:t>
            </a:r>
          </a:p>
          <a:p>
            <a:r>
              <a:t>- Z3 safety shield verifies the action against formal constraints</a:t>
            </a:r>
          </a:p>
          <a:p>
            <a:r>
              <a:t>- If verified: execute RL action; if not: override with safe alternative</a:t>
            </a:r>
          </a:p>
          <a:p>
            <a:r>
              <a:t>- Typically ~30% of flows</a:t>
            </a:r>
          </a:p>
          <a:p/>
          <a:p>
            <a:r>
              <a:t>AUDIT TRAIL:</a:t>
            </a:r>
          </a:p>
          <a:p>
            <a:r>
              <a:t>Every classification produces:</a:t>
            </a:r>
          </a:p>
          <a:p>
            <a:r>
              <a:t>1. DT leaf probability p_i</a:t>
            </a:r>
          </a:p>
          <a:p>
            <a:r>
              <a:t>2. Leaf state s_i</a:t>
            </a:r>
          </a:p>
          <a:p>
            <a:r>
              <a:t>3. Tier used (HIGH_ATTACK, HIGH_BENIGN, RL_VERIFIED)</a:t>
            </a:r>
          </a:p>
          <a:p>
            <a:r>
              <a:t>4. Z3 verification result (for Tier 3 only)</a:t>
            </a:r>
          </a:p>
          <a:p>
            <a:r>
              <a:t>5. Original RL proposed action vs final action (if shield overrode)</a:t>
            </a:r>
          </a:p>
          <a:p/>
          <a:p>
            <a:r>
              <a:t>This provides complete explainability — every decision can be traced back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Experimental Results: ASRRL Dynamic vs. Static Baselines</a:t>
            </a:r>
          </a:p>
          <a:p/>
          <a:p>
            <a:r>
              <a:t>PERFORMANCE OVERVIEW:</a:t>
            </a:r>
          </a:p>
          <a:p>
            <a:r>
              <a:t>ASRRL Dynamic (Buffer+Threshold) achieves F1 scores of 0.98+ across all three datasets, which is competitive with static baselines like Random Forest (0.99+) and XGBoost (0.99+).</a:t>
            </a:r>
          </a:p>
          <a:p/>
          <a:p>
            <a:r>
              <a:t>KEY FINDING — WHY SLIGHTLY LOWER F1 IS ACCEPTABLE:</a:t>
            </a:r>
          </a:p>
          <a:p>
            <a:r>
              <a:t>While ASRRL's F1 is 1-2% below the best static classifiers, it provides capabilities that no static classifier can match:</a:t>
            </a:r>
          </a:p>
          <a:p/>
          <a:p>
            <a:r>
              <a:t>1. FORMAL SAFETY GUARANTEES: Every ASRRL classification is verified against Z3 constraints. Static classifiers are black boxes (RF) or shallow interpretable (DT alone) but cannot provide mathematical proofs of safety.</a:t>
            </a:r>
          </a:p>
          <a:p/>
          <a:p>
            <a:r>
              <a:t>2. DYNAMIC ADAPTATION: The buffer converges to dataset-specific sizes (30-37 flows) and the threshold adapts to dataset-specific optima (0.625-0.685). Static classifiers use fixed parameters set at training time.</a:t>
            </a:r>
          </a:p>
          <a:p/>
          <a:p>
            <a:r>
              <a:t>3. ZERO-DAY DETECTION: DBSCAN discovers novel attack patterns at runtime and incorporates them into the constraint set. Static classifiers can only detect attack types seen in training data.</a:t>
            </a:r>
          </a:p>
          <a:p/>
          <a:p>
            <a:r>
              <a:t>4. COMPLETE EXPLAINABILITY: Every ASRRL decision has an audit trail (DT probability, leaf state, Z3 check, confidence tier). RF provides feature importance but not per-decision explanations.</a:t>
            </a:r>
          </a:p>
          <a:p/>
          <a:p>
            <a:r>
              <a:t>STATISTICAL SIGNIFICANCE (from table_significance.csv):</a:t>
            </a:r>
          </a:p>
          <a:p>
            <a:r>
              <a:t>- Wilcoxon signed-rank tests show ASRRL significantly differs from most baselines at p&lt;0.05</a:t>
            </a:r>
          </a:p>
          <a:p>
            <a:r>
              <a:t>- Notable exceptions: XGBoost on CSE-CIC-2018 (p=0.084) and LightGBM on UNSW-NB15 (p=0.225)</a:t>
            </a:r>
          </a:p>
          <a:p/>
          <a:p>
            <a:r>
              <a:t>CONSTRAINT FIDELITY (from table_fidelity.csv):</a:t>
            </a:r>
          </a:p>
          <a:p>
            <a:r>
              <a:t>- All three datasets achieve 100% fidelity, 100% coverage, 100% opinion rate</a:t>
            </a:r>
          </a:p>
          <a:p>
            <a:r>
              <a:t>- This means every Z3 constraint is satisfiable and consistent with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ASRRL: Adaptive Symbolic Reasoning and</a:t>
            </a:r>
            <a:br/>
            <a:r>
              <a:t>Reinforcement Learning for Dynamic</a:t>
            </a:r>
            <a:br/>
            <a:r>
              <a:t>Network Traffic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Calibri"/>
              </a:defRPr>
            </a:pPr>
            <a:r>
              <a:t>A Verifiable IDS Framework with Z3 Formal Verification,</a:t>
            </a:r>
            <a:br/>
            <a:r>
              <a:t>Q-Learning Safety Shielding, and DBSCAN Novel Pattern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3 Benchmark Datasets  |  8-Stage Pipeline  |  IEEE Format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C71"/>
                </a:solidFill>
                <a:latin typeface="Calibri"/>
              </a:defRPr>
            </a:pPr>
            <a:r>
              <a:t>ASRRL Architecture — End-to-End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234440" cy="777240"/>
          </a:xfrm>
          <a:prstGeom prst="round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Data Ingestion</a:t>
            </a:r>
            <a:br/>
            <a:r>
              <a:t>&amp; Preprocessing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1848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1234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Decision Tree</a:t>
            </a:r>
            <a:br/>
            <a:r>
              <a:t>Symbolic Model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8152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005840"/>
            <a:ext cx="1234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Z3 Constraint</a:t>
            </a:r>
            <a:br/>
            <a:r>
              <a:t>Extraction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4456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005840"/>
            <a:ext cx="123444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4. Q-Learning RL</a:t>
            </a:r>
            <a:br/>
            <a:r>
              <a:t>Safety Shielding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760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1234440" cy="7772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5. DBSCAN Novel</a:t>
            </a:r>
            <a:br/>
            <a:r>
              <a:t>Pattern Detection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7064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005840"/>
            <a:ext cx="1234440" cy="7772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6. Adaptive Buffer</a:t>
            </a:r>
            <a:br/>
            <a:r>
              <a:t>Management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3368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005840"/>
            <a:ext cx="1234440" cy="7772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7. Dynamic Threshold</a:t>
            </a:r>
            <a:br/>
            <a:r>
              <a:t>Adaptation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396728" y="1234440"/>
            <a:ext cx="182880" cy="32004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0" y="1005840"/>
            <a:ext cx="1234440" cy="7772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 Final Classification</a:t>
            </a:r>
            <a:br/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011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C71"/>
                </a:solidFill>
                <a:latin typeface="Calibri"/>
              </a:defRPr>
            </a:pPr>
            <a:r>
              <a:t>Three Primary Datasets: UNSW-NB15 (2.5M flows, 9 attacks)  |  CSE-CIC-IDS-2018 (16M flows, 7 attacks)  |  CIC-IDS2017 (3.1M flows, 14 attacks)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C71"/>
                </a:solidFill>
                <a:latin typeface="Calibri"/>
              </a:defRPr>
            </a:pPr>
            <a:r>
              <a:t>Data Transformation Summary (per flow x_i):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1:  Raw columns (dur, rate, sbytes, ...)  →  x_i = [flow_duration, pkt_rate, byte_rate, entropy, port_cat, size_cat, protocol] ∈ R^7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2:  X_norm ∈ R^(n×7) → DecisionTree(max_depth=6) →  leaf_id(x_i), P(attack|x_i), ŷ_DT(x_i) ∈ {0,1}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3:  DT paths (root → leaf) → Z3 Implies(∧ (f_j op θ_j), action=class)  →  constraint set C = {φ_1,...,φ_L}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4:  state s_i = leaf_id(x_i) → Q(s,a) → a_i* = argmax Q(s_i,a)  subject to Z3 verify(x_i, a_i*) = sat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5:  misclassified {x_i : â_i ≠ a_i*} → DBSCAN(ε=1.5, minPts=5) → novel centroids → C' = C ∪ C_novel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6:  σ_entropy, σ²_bytes of window W_t → |B_{t+1}| = clip(|B_t| ± Δ, 10, 200)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7:  EMA(FPR_t, FNR_t) → τ_{t+1} = clip(τ_t ± 0.005, 0.40, 0.70)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Stage 8:  p_i ≥ τ → ATTACK;  p_i ≤ 1-τ → BENIGN;  else → RL+Z3 shield → ŷ_i ∈ {0,1}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C71"/>
                </a:solidFill>
                <a:latin typeface="Calibri"/>
              </a:defRPr>
            </a:pPr>
            <a:r>
              <a:t>Three Benchmark Datasets — Raw Features &amp; Standardized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731520"/>
            <a:ext cx="3840480" cy="411480"/>
          </a:xfrm>
          <a:prstGeom prst="round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UNSW-NB15  (2015, UNSW Canberra)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0000"/>
                </a:solidFill>
                <a:latin typeface="Consolas"/>
              </a:defRPr>
            </a:pPr>
            <a:r>
              <a:t>Raw Columns (49 features):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dur, rate, sbytes, dbytes, spkts, dpkts,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ct_srv_src, sttl, sjit, dsport, proto, ...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003C71"/>
                </a:solidFill>
                <a:latin typeface="Consolas"/>
              </a:defRPr>
            </a:pPr>
            <a:r>
              <a:t>Feature Extraction: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flow_duration = dur × 1000  (sec → ms)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pkt_rate      = rate  (or (spkts+dpkts)/dur)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byte_rate     = sbytes + dbytes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entropy       = normalize(ct_srv_src, [0,1])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port_cat      = bin(dsport, [80,443,1K,5K,10K,65K])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size_cat      = bin(byte_rate, [100,1K,10K,∞])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protocol      = {tcp:0, udp:1, icmp:2}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Attack Types (9): Generic, Exploits, Fuzzers,</a:t>
            </a: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  DoS, Recon, Analysis, Backdoor, Shellcode, Worms</a:t>
            </a:r>
          </a:p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  <a:latin typeface="Consolas"/>
              </a:defRPr>
            </a:pPr>
            <a:r>
              <a:t>Attack Ratio: ~30%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731520"/>
            <a:ext cx="3840480" cy="411480"/>
          </a:xfrm>
          <a:prstGeom prst="round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CSE-CIC-IDS-2018  (2018, CIC/UNB)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0000"/>
                </a:solidFill>
                <a:latin typeface="Consolas"/>
              </a:defRPr>
            </a:pPr>
            <a:r>
              <a:t>Raw Columns (80+ CICFlowMeter features):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Flow Duration, Flow Packets/s,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Flow Bytes/s, Fwd IAT Std,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Dst Port, Protocol, Label, ...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003C71"/>
                </a:solidFill>
                <a:latin typeface="Consolas"/>
              </a:defRPr>
            </a:pPr>
            <a:r>
              <a:t>Feature Extraction: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flow_duration = Flow Duration / 1000  (μs → ms)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pkt_rate      = Flow Packets/s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byte_rate     = Flow Bytes/s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entropy       = quantile_norm(Fwd IAT Std)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port_cat      = bin(Dst Port, [80,443,1K,5K,10K,65K])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size_cat      = bin(bytes×dur, [100,1K,10K,∞])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protocol      = {6→TCP:0, 17→UDP:1, 1→ICMP:2}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Attack Types (7): DoS, DDoS, BruteForce,</a:t>
            </a: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  Infiltration, BotNet, WebAttack, SQL Injection</a:t>
            </a:r>
          </a:p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  <a:latin typeface="Consolas"/>
              </a:defRPr>
            </a:pPr>
            <a:r>
              <a:t>Attack Ratio: ~15%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731520"/>
            <a:ext cx="3840480" cy="411480"/>
          </a:xfrm>
          <a:prstGeom prst="round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CIC-IDS2017  (2017, CIC/UNB)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0000"/>
                </a:solidFill>
                <a:latin typeface="Consolas"/>
              </a:defRPr>
            </a:pPr>
            <a:r>
              <a:t>Raw Columns (80+ CICFlowMeter features):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Flow Duration, Flow Pkts/s,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Flow Byts/s, Flow IAT Std,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Destination Port, Protocol, Label, ...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003C71"/>
                </a:solidFill>
                <a:latin typeface="Consolas"/>
              </a:defRPr>
            </a:pPr>
            <a:r>
              <a:t>Feature Extraction (same as CSE-CIC):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flow_duration = Flow Duration / 1000  (μs → ms)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pkt_rate      = Flow Packets/s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byte_rate     = Flow Bytes/s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entropy       = quantile_norm(Fwd IAT Std)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port_cat      = bin(Dst Port, [80,443,1K,5K,10K,65K])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size_cat      = bin(bytes×dur, [100,1K,10K,∞])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protocol      = {6→TCP:0, 17→UDP:1, 1→ICMP:2}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Attack Types (14): DoS, PortScan, DDoS,</a:t>
            </a: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  BruteForce, WebAttack, Infiltration,</a:t>
            </a:r>
          </a:p>
          <a:p>
            <a:pPr>
              <a:spcAft>
                <a:spcPts val="200"/>
              </a:spcAft>
              <a:defRPr sz="1000" b="0">
                <a:solidFill>
                  <a:srgbClr val="C0392B"/>
                </a:solidFill>
                <a:latin typeface="Consolas"/>
              </a:defRPr>
            </a:pPr>
            <a:r>
              <a:t>  Heartbleed, Botnet, SSH-Patator, ...</a:t>
            </a:r>
          </a:p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  <a:latin typeface="Consolas"/>
              </a:defRPr>
            </a:pPr>
            <a:r>
              <a:t>Attack Ratio: ~20%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All 3 datasets → Standardized schema:  x_i = [flow_duration, pkt_rate, byte_rate, entropy, port_cat, size_cat, protocol],  y_i ∈ {0,1}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C71"/>
                </a:solidFill>
                <a:latin typeface="Calibri"/>
              </a:defRPr>
            </a:pPr>
            <a:r>
              <a:t>Stage 1: Data Ingestion &amp; StandardScaler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6858000" cy="429768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1: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Feature Extraction &amp; Z-Score Normalization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Raw dataset D_k, k ∈ {UNSW-NB15, CSE-CIC-2018, CIC-IDS2017}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Normalized feature matrix X_norm ∈ R^(n×7), labels y ∈ {0,1}^n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dataset D_k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column c_j ∈ D_k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c_j is numeric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x_j ← map(c_j) using dataset-specific extraction rules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x_j ← categorize(c_j) into integer bins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X ← [x_1, x_2, ..., x_7]  (n × 7 feature matrix)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μ_j ← (1/n) ∑ x_j^(i),  σ_j ← std(x_j)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j = 1..4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z_j^(i) ← (x_j^(i) - μ_j) / σ_j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continuous features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X_norm ← [z_1, z_2, z_3, z_4, x_5, x_6, x_7]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X_norm, 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40080"/>
            <a:ext cx="4389120" cy="1569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Maps heterogeneous raw features from each dataset into a unified 7-dimensional representation: [flow_duration, pkt_rate, byte_rate, entropy, port_cat, size_cat, protocol].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Applies Z-score normalization (StandardScaler) to the 4 continuous features, ensuring zero mean and unit variance to prevent scale dominance.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Categorical features (port_cat, size_cat, protocol) are binned into integer categories and passed through unchanged.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The scaler is fit on training data only and applied to test data to prevent data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 X_norm ∈ R^(n×7), y ∈ {0,1}^n  → Feeds into Stage 2 (Decision Tree)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Stage 2: Decision Tree Symbolic Model (CART)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6858000" cy="466344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2: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CART Decision Tree Training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X_norm ∈ R^(n×7), y ∈ {0,1}^n, max_depth=6, min_leaf=15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Trained tree T with L leaf nodes, leaf predictions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T ← initialize empty CART tree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node v in T (breadth-first)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depth(v) &lt; max_depth and |samples(v)| ≥ 2 × min_leaf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feature j ∈ {1,...,7}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threshold θ in unique_splits(X_j)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Compute Gini_split = (|S_L|/|S|)·Gini(S_L) + (|S_R|/|S|)·Gini(S_R)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(j*, θ*) ← argmin Gini_split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Split v into left child (x_{j*} ≤ θ*) and right child (x_{j*} &gt; θ*)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Mark v as leaf: P(attack|v) = n_attack / n_total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T, {leaf_id(x_i), P(attack|x_i), ŷ_DT(x_i)}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all x_i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40080"/>
            <a:ext cx="4114800" cy="1641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Trains a CART decision tree (max_depth=6, min_samples_leaf=15) to serve as the interpretable symbolic model whose paths become Z3 constraints.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Each leaf node provides: a discrete state ID for Q-learning (Stage 4), an attack probability P(attack|leaf), and a baseline classification.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The shallow depth (max 64 leaves) keeps Z3 constraint extraction tractable while maintaining sufficient classification expressiveness.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Gini impurity guides feature splits—pure leaves (Gini=0) give high-confidence predictions; impure leaves are deferred to the RL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Tree T with L leaves → Feeds into Stage 3 (Z3 extraction) + Stage 4 (leaf_id as RL state)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Stage 3: Z3 SMT Constraint Extraction from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6858000" cy="484632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3: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Z3 Constraint Extraction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Trained decision tree T with L leaf nodes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Constraint set C = {φ_1, ..., φ_|C|} of Z3 implications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 ← ∅, solver ← Z3.Solver()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leaf l ∈ {1, ..., L}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π_l ← extract_path(root, l)  // walk tree root → leaf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conditions ← []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split (feature_j, threshold_θ, direction) in π_l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direction = left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conditions.append( Real(f_j) ≤ θ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conditions.append( Real(f_j) &gt; θ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φ_l ← Implies( And(conditions), Int(action) == class(l)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solver.check(C ∪ {φ_l}) == sat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 ← C ∪ {φ_l}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16: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17: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40080"/>
            <a:ext cx="4389120" cy="1486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Traverses each root-to-leaf path in the decision tree, converting feature threshold comparisons into Z3 Real/Int constraints with Implies() implications.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Each constraint φ_l states: if the conjunction of feature conditions along path π_l is true, then the action must equal the leaf's predicted class.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A satisfiability check ensures each new constraint is consistent with the existing set—inconsistent constraints are rejected to maintain logical soundness.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The resulting constraint set C enables runtime verification: any proposed RL action can be checked against C using Z3's SMT solver in O(ms)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Constraint set C → Used by Stage 4 (Q-Learning safety shield) and updated by Stage 5 (DBSCAN novel patterns)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7E22"/>
                </a:solidFill>
                <a:latin typeface="Calibri"/>
              </a:defRPr>
            </a:pPr>
            <a:r>
              <a:t>Stage 4: Q-Learning Reinforcement Learning with Z3 Safety Shielding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7315200" cy="530352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4: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Q-Learning with Z3 Safety Shielding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Constraint set C, DT tree T, training data (X, y)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Learned Q-table Q(s, a) with safety-verified actions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Initialize Q(s, a) ← 0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all states s, actions a ∈ {0, 1}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ε ← 0.20, α ← 0.15, γ ← 0.95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episode e = 1, ..., E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flow x_i in training batch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s_i ← leaf_id(T, x_i)  // DT leaf as discrete state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ran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m() &lt; ε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a_proposed ← ran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m_action({0, 1})  // explore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a_proposed ← argmax_a Q(s_i, a)  // exploit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Z3_verify(C, x_i, a_proposed) == sat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a_i ← a_proposed  // action is safe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  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a_i ← 1 - a_proposed  // safety shield override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16: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r_i ← Reward(a_i, y_i)  // TP:+2, FN:-3, TN:+1, FP:-1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17:    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Z3_verify passed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r_i ← r_i + 0.5  // shield bonus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18: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Q(s_i, a_i) ← Q(s_i, a_i) + α[r_i + γ·max_a Q(s', a) - Q(s_i, a_i)]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19: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20: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ε ← ε × 0.999  // decay exploration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21: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22: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Q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4114800" cy="90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A tabular Q-learning agent uses DT leaf IDs as discrete states and {ALLOW=0, BLOCK=1} as actions, learning from an asymmetric reward: FN penalty (−3) exceeds FP penalty (−1) to prioritize attack detection.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Every proposed action is verified against the Z3 constraint set before execution—if the action is unsafe (unsat), the safety shield overrides it with the alternative action.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Epsilon-greedy exploration (ε=0.20, decay=0.999) balances discovering new policies with exploiting learned Q-values; a +0.5 shield bonus incentivizes Z3-consistent behavior.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The Q-table converges to a policy that improves on the static DT baseline while maintaining formal safety guarantees from the constraint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92B"/>
                </a:solidFill>
                <a:latin typeface="Calibri"/>
              </a:defRPr>
            </a:pPr>
            <a:r>
              <a:t>Stage 5: DBSCAN Novel Attack Pattern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7132320" cy="484632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5: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DBSCAN Novel Pattern Detection &amp; Constraint Generation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Misclassified flows M = {x_i : ŷ_i ≠ y_i}, constraint set C, ε=1.5, minPts=5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Updated constraint set C' = C ∪ C_novel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|M| &lt; minPts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  // insufficient data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clusters ← DBSCAN(M, ε=1.5, min_samples=5)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C_novel ← ∅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cluster K_m ∈ clusters (excluding noise)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μ_m ← centroid(K_m)  // mean feature vector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σ_m ← std(K_m)  // feature-wise standard deviation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feature j = 1, ..., 7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φ_j ← And( Real(f_j) ≥ μ_m[j] - 2σ_m[j],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           Real(f_j) ≤ μ_m[j] + 2σ_m[j]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φ_novel ← Implies( And(φ_1,...,φ_7), action == majority_class(K_m)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solver.check(C ∪ {φ_novel}) == sat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C_novel ← C_novel ∪ {φ_novel}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16: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C' = C ∪ C_novel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640080"/>
            <a:ext cx="4114800" cy="1452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56032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Collects misclassified flows (where ŷ_i ≠ y_i) into a buffer and applies DBSCAN density-based clustering (ε=1.5, minPts=5) to discover previously unseen attack patterns.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Each discovered cluster is converted into a new Z3 constraint using the centroid ± 2σ range per feature, then added to the constraint set after satisfiability verification.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Noise points (not in any cluster) are discarded—only dense, coherent groups of misclassified flows generate new constraints, reducing false pattern creation.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This enables zero-day attack detection: novel attacks that the DT never saw in training are discovered at runtime and formally incorporated into the safety shield.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C' = C ∪ C_novel → Feedback loop: updated constraints improve Stage 4 (Q-Learning) safety shield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Stage 6: Adaptive Buffer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6858000" cy="457200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6: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Adaptive Buffer Resizing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Flow stream F, current buffer B_t with size |B_t|, bounds [10, 200]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Resized buffer B_{t+1} adapted to traffic volatility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time win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w W_t of flows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B_t.append(flows in W_t)  // sliding win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w buffer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σ_ent ← std({entropy(x) : x ∈ B_t})  // entropy volatility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σ²_bytes ← var({byte_rate(x) : x ∈ B_t})  // byte rate variance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volatility ← σ_ent + σ²_bytes / max(σ²_bytes)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volatility &gt; high_threshold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Δ ← +10  // high volatility: grow buffer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more context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volatility &lt; low_threshold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Δ ← -5  // low volatility: shrink buffer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faster response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Δ ← 0  // stable: maintain current size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|B_{t+1}| ← clip(|B_t| + Δ, 10, 200)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B_{t+1}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40080"/>
            <a:ext cx="4114800" cy="1968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Dynamically resizes the flow buffer (10–200 flows) based on traffic volatility measured by entropy standard deviation and byte rate variance within the current window.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High volatility (e.g., mixed attack/benign bursts) triggers buffer growth (+10) to accumulate more context for accurate classification decisions.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Low volatility (e.g., sustained benign traffic) triggers buffer shrinkage (−5) to reduce latency and memory footprint for faster real-time response.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Asymmetric growth/shrink rates (+10/−5) create a conservative bias—the system is quicker to accumulate evidence than to discard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Adapted buffer size |B_{t+1}| → Used by Stage 7 and Stage 8 for windowed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A085"/>
                </a:solidFill>
                <a:latin typeface="Calibri"/>
              </a:defRPr>
            </a:pPr>
            <a:r>
              <a:t>Stage 7: Dynamic Threshold Adaptation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6858000" cy="457200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7: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Dynamic Threshold Adaptation via EMA Error Balancing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Current threshold τ_t ∈ [0.40, 0.70], recent FPR_t, FNR_t, EMA decay β=0.3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Updated threshold τ_{t+1} balancing false positives and false negatives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for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each evaluation win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w W_t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do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FPR_t ← FP_t / (FP_t + TN_t)  // false positive 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FNR_t ← FN_t / (FN_t + TP_t)  // false negative 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EMA_FPR ← β · FPR_t + (1 - β) · EMA_FPR  // exponential moving average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EMA_FNR ← β · FNR_t + (1 - β) · EMA_FNR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EMA_FPR &gt; EMA_FNR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τ_{t+1} ← τ_t + 0.005  // too many false positives: raise threshold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EMA_FNR &gt; EMA_FPR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τ_{t+1} ← τ_t - 0.005  // too many false negatives: lower threshold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τ_{t+1} ← τ_t  // balanced: maintain threshold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τ_{t+1} ← clip(τ_{t+1}, 0.40, 0.70)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for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τ_{t+1}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40080"/>
            <a:ext cx="4114800" cy="1572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Continuously adjusts the classification threshold τ ∈ [0.40, 0.70] based on the balance between false positive rate (FPR) and false negative rate (FNR) in recent windows.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Uses exponential moving average (EMA, β=0.3) to smooth noisy per-window error rates, preventing the threshold from oscillating due to short-term fluctuations.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When FPR dominates, the threshold rises (+0.005) to reduce false alarms; when FNR dominates, it falls (−0.005) to catch more attacks—creating a self-correcting feedback loop.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Hard bounds [0.40, 0.70] prevent the threshold from becoming too permissive (miss attacks) or too aggressive (block legitimate traffic).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τ_{t+1} → Used by Stage 8 for high-confidence direct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Calibri"/>
              </a:defRPr>
            </a:pPr>
            <a:r>
              <a:t>Stage 8: Final Classification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7132320" cy="5029200"/>
          </a:xfrm>
          <a:prstGeom prst="rect">
            <a:avLst/>
          </a:prstGeom>
          <a:solidFill>
            <a:srgbClr val="F7F9FB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1">
                <a:solidFill>
                  <a:srgbClr val="000000"/>
                </a:solidFill>
                <a:latin typeface="Times New Roman"/>
              </a:rPr>
              <a:t>Algorithm 8: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Final Classification with Tiered Decision Logic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Require: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Flow x_i, threshold τ, Q-table Q, constraint set C, DT tree 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Ensure: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Final classification ŷ_i ∈ {0=BENIGN, 1=ATTACK} with audit trail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1: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p_i ← P(attack | leaf_id(T, x_i))  // DT leaf probability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2: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p_i ≥ τ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3: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ŷ_i ← 1 (ATTACK)  // high confidence attack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4: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confidence ← 'HIGH_ATTACK'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5: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p_i ≤ 1 - τ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6: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ŷ_i ← 0 (BENIGN)  // high confidence benign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7: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confidence ← 'HIGH_BENIGN'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8: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 9: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// Uncertain region: invoke RL + Z3 safety shield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10: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s_i ← leaf_id(T, x_i)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11: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a_RL ← argmax_a Q(s_i, 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12: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if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Z3_verify(C, x_i, a_RL) == sat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13: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ŷ_i ← a_RL  // RL action is safe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14: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else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15:    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ŷ_i ← 1 - a_RL  // safety shield override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16:    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17:     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confidence ← 'RL_VERIFIED'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18: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end if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Consolas"/>
              </a:rPr>
              <a:t>19:  </a:t>
            </a:r>
            <a:r>
              <a:rPr sz="1000" b="1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ŷ_i, confidence, audit_trail(p_i, s_i, C)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640080"/>
            <a:ext cx="3657600" cy="1565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560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Uses a three-tier decision logic: flows with high DT confidence (p ≥ τ or p ≤ 1−τ) are classified directly; uncertain flows in the middle range are deferred to the RL agent with Z3 verification.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The RL+Z3 path handles the hardest cases—ambiguous flows near the decision boundary—where the Q-learning policy and formal safety shield provide the most value.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Every classification produces a full audit trail: DT probability, leaf state, Z3 constraint check result, and confidence level, enabling complete explainability.</a:t>
            </a:r>
          </a:p>
          <a:p>
            <a:pPr>
              <a:spcAft>
                <a:spcPts val="4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 This tiered approach reduces Z3 solver calls (~70% of flows are high-confidence), balancing verification overhead with classification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Output: ŷ_i ∈ {0, 1} with confidence level and full audit trail for every classification decision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C71"/>
                </a:solidFill>
                <a:latin typeface="Calibri"/>
              </a:defRPr>
            </a:pPr>
            <a:r>
              <a:t>Experimental Results — ASRRL Dynamic vs. Static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03C71"/>
                </a:solidFill>
                <a:latin typeface="Consolas"/>
              </a:defRPr>
            </a:pPr>
            <a:r>
              <a:t>                          ASRRL Dynamic        Random Forest      XGBoost         SVM             KNN</a:t>
            </a:r>
          </a:p>
          <a:p>
            <a:pPr>
              <a:spcAft>
                <a:spcPts val="200"/>
              </a:spcAft>
              <a:defRPr sz="1000" b="0">
                <a:solidFill>
                  <a:srgbClr val="7F8C8D"/>
                </a:solidFill>
                <a:latin typeface="Consolas"/>
              </a:defRPr>
            </a:pPr>
            <a:r>
              <a:t>                          (Buf+Thresh)                                                              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CSE-CIC-IDS-2018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F1-Score:               0.9812               0.9956             0.9934          0.9901          0.9799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Accuracy:               0.9887               0.9973             0.9960          0.9940          0.9880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FPR:                    0.0048               0.0010             0.0010          0.0010          0.0010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Buffer:           30                   N/A                N/A             N/A             N/A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Threshold:        0.625                N/A                N/A             N/A             N/A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UNSW-NB15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F1-Score:               0.9889               1.0000             0.9967          0.9923          0.9833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Accuracy:               0.9933               1.0000             0.9980          0.9953          0.9900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FPR:                    0.0000               0.0000             0.0000          0.0019          0.0000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Buffer:           37                   N/A                N/A             N/A             N/A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Threshold:        0.650                N/A                N/A             N/A             N/A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CIC-IDS2017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F1-Score:               0.9845               0.9978             0.9934          0.9945          0.9822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Accuracy:               0.9907               0.9987             0.9960          0.9967          0.9893</a:t>
            </a:r>
          </a:p>
          <a:p>
            <a:pPr>
              <a:spcAft>
                <a:spcPts val="200"/>
              </a:spcAft>
              <a:defRPr sz="1000" b="0">
                <a:solidFill>
                  <a:srgbClr val="000000"/>
                </a:solidFill>
                <a:latin typeface="Consolas"/>
              </a:defRPr>
            </a:pPr>
            <a:r>
              <a:t>  FPR:                    0.0019               0.0010             0.0010          0.0010          0.0010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Buffer:           32                   N/A                N/A             N/A             N/A</a:t>
            </a:r>
          </a:p>
          <a:p>
            <a:pPr>
              <a:spcAft>
                <a:spcPts val="200"/>
              </a:spcAft>
              <a:defRPr sz="1000" b="0">
                <a:solidFill>
                  <a:srgbClr val="2980B9"/>
                </a:solidFill>
                <a:latin typeface="Consolas"/>
              </a:defRPr>
            </a:pPr>
            <a:r>
              <a:t>  Final Threshold:        0.685                N/A                N/A             N/A             N/A</a:t>
            </a:r>
          </a:p>
          <a:p>
            <a:pPr>
              <a:spcAft>
                <a:spcPts val="200"/>
              </a:spcAft>
              <a:defRPr sz="4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E8E3E"/>
                </a:solidFill>
                <a:latin typeface="Consolas"/>
              </a:defRPr>
            </a:pPr>
            <a:r>
              <a:t>Key Insight: ASRRL achieves competitive F1 (0.98+) while providing formal safety guarantees,</a:t>
            </a:r>
          </a:p>
          <a:p>
            <a:pPr>
              <a:spcAft>
                <a:spcPts val="200"/>
              </a:spcAft>
              <a:defRPr sz="1100" b="1">
                <a:solidFill>
                  <a:srgbClr val="1E8E3E"/>
                </a:solidFill>
                <a:latin typeface="Consolas"/>
              </a:defRPr>
            </a:pPr>
            <a:r>
              <a:t>dynamic adaptation (buffer+threshold), and zero-day detection that static classifiers lack.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